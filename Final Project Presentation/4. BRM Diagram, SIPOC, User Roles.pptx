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oyEhUA3EPy0m3ZaOvilQZFHzl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04D667-65CA-442C-83ED-9C8F383C8B3A}">
  <a:tblStyle styleId="{E804D667-65CA-442C-83ED-9C8F383C8B3A}" styleName="Table_0">
    <a:wholeTbl>
      <a:tcTxStyle b="off" i="off">
        <a:font>
          <a:latin typeface="Aptos"/>
          <a:ea typeface="Aptos"/>
          <a:cs typeface="Aptos"/>
        </a:font>
        <a:schemeClr val="lt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wholeTbl>
    <a:band1H>
      <a:tcTxStyle/>
      <a:tcStyle>
        <a:fill>
          <a:solidFill>
            <a:srgbClr val="104C67"/>
          </a:solidFill>
        </a:fill>
      </a:tcStyle>
    </a:band1H>
    <a:band2H>
      <a:tcTxStyle/>
    </a:band2H>
    <a:band1V>
      <a:tcTxStyle/>
      <a:tcStyle>
        <a:fill>
          <a:solidFill>
            <a:srgbClr val="104C67"/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</a:tcBdr>
        <a:fill>
          <a:solidFill>
            <a:srgbClr val="104C67"/>
          </a:solidFill>
        </a:fill>
      </a:tcStyle>
    </a:lastCol>
    <a:firstCol>
      <a:tcTxStyle b="on" i="off"/>
      <a:tcStyle>
        <a:tcBdr>
          <a:right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</a:tcBdr>
        <a:fill>
          <a:solidFill>
            <a:srgbClr val="104C67"/>
          </a:solidFill>
        </a:fill>
      </a:tcStyle>
    </a:firstCol>
    <a:lastRow>
      <a:tcTxStyle b="on" i="off"/>
      <a:tcStyle>
        <a:tcBdr>
          <a:top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0D3F55"/>
          </a:solidFill>
        </a:fill>
      </a:tcStyle>
    </a:lastRow>
    <a:s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seCell>
    <a:s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swCell>
    <a:firstRow>
      <a:tcTxStyle b="on" i="off"/>
      <a:tcStyle>
        <a:tcBdr>
          <a:bottom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neCell>
    <a:n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Play-bold.fntdata"/><Relationship Id="rId9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1524000" y="1122363"/>
            <a:ext cx="9144000" cy="5879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b="1" lang="en-IN" sz="3200"/>
              <a:t>RxFlow: Business Relationship Map</a:t>
            </a:r>
            <a:br>
              <a:rPr b="0" lang="en-IN" sz="3200"/>
            </a:br>
            <a:br>
              <a:rPr lang="en-IN" sz="3200"/>
            </a:br>
            <a:endParaRPr sz="3200"/>
          </a:p>
        </p:txBody>
      </p:sp>
      <p:sp>
        <p:nvSpPr>
          <p:cNvPr id="90" name="Google Shape;90;p1"/>
          <p:cNvSpPr/>
          <p:nvPr/>
        </p:nvSpPr>
        <p:spPr>
          <a:xfrm>
            <a:off x="4458793" y="1910926"/>
            <a:ext cx="3124200" cy="4489874"/>
          </a:xfrm>
          <a:prstGeom prst="rect">
            <a:avLst/>
          </a:prstGeom>
          <a:noFill/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193075" y="1910925"/>
            <a:ext cx="2364300" cy="4489800"/>
          </a:xfrm>
          <a:prstGeom prst="rect">
            <a:avLst/>
          </a:prstGeom>
          <a:noFill/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202760" y="1543363"/>
            <a:ext cx="11877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800" u="none" cap="none" strike="noStrike">
                <a:solidFill>
                  <a:srgbClr val="0F4861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774880" y="1529840"/>
            <a:ext cx="10567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800" u="none" cap="none" strike="noStrike">
                <a:solidFill>
                  <a:srgbClr val="0F4861"/>
                </a:solidFill>
                <a:latin typeface="Calibri"/>
                <a:ea typeface="Calibri"/>
                <a:cs typeface="Calibri"/>
                <a:sym typeface="Calibri"/>
              </a:rPr>
              <a:t>Suppliers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8634551" y="1910926"/>
            <a:ext cx="2364374" cy="4489874"/>
          </a:xfrm>
          <a:prstGeom prst="rect">
            <a:avLst/>
          </a:prstGeom>
          <a:noFill/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542637" y="1260563"/>
            <a:ext cx="29728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800" u="none" cap="none" strike="noStrike">
                <a:solidFill>
                  <a:srgbClr val="0F4861"/>
                </a:solidFill>
                <a:latin typeface="Calibri"/>
                <a:ea typeface="Calibri"/>
                <a:cs typeface="Calibri"/>
                <a:sym typeface="Calibri"/>
              </a:rPr>
              <a:t>Organization’s Selected Parts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800" u="none" cap="none" strike="noStrike">
                <a:solidFill>
                  <a:srgbClr val="0F4861"/>
                </a:solidFill>
                <a:latin typeface="Calibri"/>
                <a:ea typeface="Calibri"/>
                <a:cs typeface="Calibri"/>
                <a:sym typeface="Calibri"/>
              </a:rPr>
              <a:t>(Internal Stakeholders)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323299" y="2172825"/>
            <a:ext cx="2065800" cy="525000"/>
          </a:xfrm>
          <a:prstGeom prst="roundRect">
            <a:avLst>
              <a:gd fmla="val 19893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Insurance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Companies/ PBM’s</a:t>
            </a:r>
            <a:br>
              <a:rPr b="0" i="0" lang="en-I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341700" y="3013175"/>
            <a:ext cx="2065800" cy="52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Drug Wholesalers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I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323299" y="3900875"/>
            <a:ext cx="2084100" cy="52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E-Prescribing Networks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341701" y="4790250"/>
            <a:ext cx="2049300" cy="52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Bank &amp; Payment Processors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341701" y="5676275"/>
            <a:ext cx="2065800" cy="52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Cloud &amp; Technology Providers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4678926" y="2778038"/>
            <a:ext cx="2683934" cy="72063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Finance &amp; Billing Team (RxFlow)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4670750" y="3827419"/>
            <a:ext cx="2683934" cy="72063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Sales &amp; Marketing Team (RxFlow)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4670750" y="4876800"/>
            <a:ext cx="2683934" cy="72063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Customer Support Team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8991600" y="2607733"/>
            <a:ext cx="1676400" cy="1168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Pharmacists &amp; Pharmacy Staff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8991600" y="4468507"/>
            <a:ext cx="1676400" cy="1168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Pharmacy Owners &amp; Admin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1"/>
          <p:cNvCxnSpPr>
            <a:stCxn id="96" idx="3"/>
            <a:endCxn id="101" idx="1"/>
          </p:cNvCxnSpPr>
          <p:nvPr/>
        </p:nvCxnSpPr>
        <p:spPr>
          <a:xfrm>
            <a:off x="3389099" y="2435325"/>
            <a:ext cx="1289700" cy="702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7" name="Google Shape;107;p1"/>
          <p:cNvCxnSpPr>
            <a:stCxn id="98" idx="3"/>
            <a:endCxn id="103" idx="1"/>
          </p:cNvCxnSpPr>
          <p:nvPr/>
        </p:nvCxnSpPr>
        <p:spPr>
          <a:xfrm>
            <a:off x="3407399" y="4163375"/>
            <a:ext cx="1263300" cy="1073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8" name="Google Shape;108;p1"/>
          <p:cNvCxnSpPr>
            <a:stCxn id="99" idx="3"/>
            <a:endCxn id="101" idx="1"/>
          </p:cNvCxnSpPr>
          <p:nvPr/>
        </p:nvCxnSpPr>
        <p:spPr>
          <a:xfrm flipH="1" rot="10800000">
            <a:off x="3391001" y="3138450"/>
            <a:ext cx="1287900" cy="1914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9" name="Google Shape;109;p1"/>
          <p:cNvCxnSpPr>
            <a:stCxn id="100" idx="3"/>
            <a:endCxn id="101" idx="1"/>
          </p:cNvCxnSpPr>
          <p:nvPr/>
        </p:nvCxnSpPr>
        <p:spPr>
          <a:xfrm flipH="1" rot="10800000">
            <a:off x="3407501" y="3138275"/>
            <a:ext cx="1271400" cy="2800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" name="Google Shape;110;p1"/>
          <p:cNvCxnSpPr>
            <a:stCxn id="97" idx="3"/>
            <a:endCxn id="101" idx="1"/>
          </p:cNvCxnSpPr>
          <p:nvPr/>
        </p:nvCxnSpPr>
        <p:spPr>
          <a:xfrm flipH="1" rot="10800000">
            <a:off x="3407500" y="3138275"/>
            <a:ext cx="1271400" cy="137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1" name="Google Shape;111;p1"/>
          <p:cNvCxnSpPr>
            <a:stCxn id="101" idx="3"/>
            <a:endCxn id="105" idx="1"/>
          </p:cNvCxnSpPr>
          <p:nvPr/>
        </p:nvCxnSpPr>
        <p:spPr>
          <a:xfrm>
            <a:off x="7362860" y="3138357"/>
            <a:ext cx="1628700" cy="1914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2" name="Google Shape;112;p1"/>
          <p:cNvCxnSpPr>
            <a:stCxn id="102" idx="3"/>
            <a:endCxn id="105" idx="1"/>
          </p:cNvCxnSpPr>
          <p:nvPr/>
        </p:nvCxnSpPr>
        <p:spPr>
          <a:xfrm>
            <a:off x="7354684" y="4187738"/>
            <a:ext cx="1636800" cy="864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" name="Google Shape;113;p1"/>
          <p:cNvCxnSpPr>
            <a:stCxn id="103" idx="3"/>
            <a:endCxn id="104" idx="1"/>
          </p:cNvCxnSpPr>
          <p:nvPr/>
        </p:nvCxnSpPr>
        <p:spPr>
          <a:xfrm flipH="1" rot="10800000">
            <a:off x="7354684" y="3192018"/>
            <a:ext cx="1636800" cy="2045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838200" y="365126"/>
            <a:ext cx="10515600" cy="557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b="1" lang="en-IN" sz="3200"/>
              <a:t>RxFlow: SIPOC Diagram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723897" y="1185333"/>
            <a:ext cx="956733" cy="55774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3170765" y="1243541"/>
            <a:ext cx="956733" cy="55774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5617633" y="1243541"/>
            <a:ext cx="956733" cy="55774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8064501" y="1243541"/>
            <a:ext cx="956733" cy="55774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10511366" y="1185333"/>
            <a:ext cx="956733" cy="55774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190499" y="2015067"/>
            <a:ext cx="2023533" cy="447780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Insurance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Companies/ PBM’s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Drug Wholesalers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E-Prescribing Networks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Bank &amp; Payment Processors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Cloud &amp; Technology Providers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2637366" y="2015067"/>
            <a:ext cx="2023533" cy="447780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Prescription data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Patient insurance information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Drug pricing &amp; inventory data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Pharmacy user data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Payment &amp; billing information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Claim status data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5084233" y="2015067"/>
            <a:ext cx="2023533" cy="447780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Receive electronic prescriptions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Verify insurance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eligibility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 insurance claims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Check drug availability &amp; pricing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Manage billing and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payments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Generate reports and alerts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Provide customer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7531100" y="2015067"/>
            <a:ext cx="2023533" cy="447780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Processed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prescriptions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Insurance claim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confirmations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Payment receipts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Inventory updates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Financial and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compliance reports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System alerts &amp;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notifications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9977967" y="2015067"/>
            <a:ext cx="2023533" cy="447780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Pharmacists &amp; Pharmacy Staff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Pharmacy Owners &amp; Admin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2"/>
          <p:cNvCxnSpPr/>
          <p:nvPr/>
        </p:nvCxnSpPr>
        <p:spPr>
          <a:xfrm>
            <a:off x="6096000" y="2573866"/>
            <a:ext cx="0" cy="211667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0" name="Google Shape;130;p2"/>
          <p:cNvCxnSpPr/>
          <p:nvPr/>
        </p:nvCxnSpPr>
        <p:spPr>
          <a:xfrm>
            <a:off x="6096000" y="3183467"/>
            <a:ext cx="0" cy="245533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1" name="Google Shape;131;p2"/>
          <p:cNvCxnSpPr/>
          <p:nvPr/>
        </p:nvCxnSpPr>
        <p:spPr>
          <a:xfrm>
            <a:off x="6096000" y="3793067"/>
            <a:ext cx="0" cy="237067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" name="Google Shape;132;p2"/>
          <p:cNvCxnSpPr/>
          <p:nvPr/>
        </p:nvCxnSpPr>
        <p:spPr>
          <a:xfrm>
            <a:off x="6096000" y="4470400"/>
            <a:ext cx="0" cy="237067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" name="Google Shape;133;p2"/>
          <p:cNvCxnSpPr/>
          <p:nvPr/>
        </p:nvCxnSpPr>
        <p:spPr>
          <a:xfrm>
            <a:off x="6112934" y="5156200"/>
            <a:ext cx="0" cy="220134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" name="Google Shape;134;p2"/>
          <p:cNvCxnSpPr/>
          <p:nvPr/>
        </p:nvCxnSpPr>
        <p:spPr>
          <a:xfrm>
            <a:off x="6096000" y="5715000"/>
            <a:ext cx="0" cy="245533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>
            <p:ph type="title"/>
          </p:nvPr>
        </p:nvSpPr>
        <p:spPr>
          <a:xfrm>
            <a:off x="838200" y="365126"/>
            <a:ext cx="10515600" cy="659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IN" sz="3200"/>
              <a:t>User Roles by Business Group</a:t>
            </a:r>
            <a:endParaRPr sz="3200"/>
          </a:p>
        </p:txBody>
      </p:sp>
      <p:sp>
        <p:nvSpPr>
          <p:cNvPr id="140" name="Google Shape;140;p3"/>
          <p:cNvSpPr txBox="1"/>
          <p:nvPr>
            <p:ph idx="1" type="body"/>
          </p:nvPr>
        </p:nvSpPr>
        <p:spPr>
          <a:xfrm>
            <a:off x="838200" y="956733"/>
            <a:ext cx="10515600" cy="522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r>
              <a:rPr b="0" i="0" lang="en-IN" sz="1600" u="sng">
                <a:solidFill>
                  <a:srgbClr val="000000"/>
                </a:solidFill>
              </a:rPr>
              <a:t>External Users (Customers)</a:t>
            </a:r>
            <a:endParaRPr b="0"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IN" sz="1600" u="none" strike="noStrike">
                <a:solidFill>
                  <a:srgbClr val="000000"/>
                </a:solidFill>
              </a:rPr>
              <a:t> Pharmacy Admin / Owner (Nidhi Pandya)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IN" sz="1600" u="none" strike="noStrike">
                <a:solidFill>
                  <a:srgbClr val="000000"/>
                </a:solidFill>
              </a:rPr>
              <a:t> Pharmacist / Pharmacy Staff (Janvi Patel)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u="sng"/>
              <a:t>Internal Users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graphicFrame>
        <p:nvGraphicFramePr>
          <p:cNvPr id="141" name="Google Shape;141;p3"/>
          <p:cNvGraphicFramePr/>
          <p:nvPr/>
        </p:nvGraphicFramePr>
        <p:xfrm>
          <a:off x="2447109" y="24685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{E804D667-65CA-442C-83ED-9C8F383C8B3A}</a:tableStyleId>
              </a:tblPr>
              <a:tblGrid>
                <a:gridCol w="2147825"/>
                <a:gridCol w="2615750"/>
                <a:gridCol w="1497875"/>
              </a:tblGrid>
              <a:tr h="596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FFFFFF"/>
                          </a:solidFill>
                        </a:rPr>
                        <a:t>Business Group</a:t>
                      </a:r>
                      <a:endParaRPr sz="180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FFFFFF"/>
                          </a:solidFill>
                        </a:rPr>
                        <a:t>User Roles</a:t>
                      </a:r>
                      <a:endParaRPr sz="180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FFFFFF"/>
                          </a:solidFill>
                        </a:rPr>
                        <a:t>Team Member Name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FFFFFF"/>
                          </a:solidFill>
                        </a:rPr>
                        <a:t>(Bus. Group Proxy)</a:t>
                      </a:r>
                      <a:endParaRPr sz="180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FFFFFF"/>
                          </a:solidFill>
                        </a:rPr>
                        <a:t>Finance &amp; Billing Team</a:t>
                      </a:r>
                      <a:endParaRPr sz="1800" u="none" cap="none" strike="noStrike"/>
                    </a:p>
                  </a:txBody>
                  <a:tcPr marT="38100" marB="38100" marR="76200" marL="762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IN" sz="1200" u="none" cap="none" strike="noStrike">
                          <a:solidFill>
                            <a:schemeClr val="dk1"/>
                          </a:solidFill>
                        </a:rPr>
                        <a:t>Accountant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IN" sz="1200" u="none" cap="none" strike="noStrike">
                          <a:solidFill>
                            <a:schemeClr val="dk1"/>
                          </a:solidFill>
                        </a:rPr>
                        <a:t>Siyi Liu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IN" sz="1200" u="none" cap="none" strike="noStrike">
                          <a:solidFill>
                            <a:schemeClr val="dk1"/>
                          </a:solidFill>
                        </a:rPr>
                        <a:t>Shivani Kotturi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FFFFFF"/>
                          </a:solidFill>
                        </a:rPr>
                        <a:t>Sales &amp; Marketing Team</a:t>
                      </a:r>
                      <a:endParaRPr sz="1800" u="none" cap="none" strike="noStrike"/>
                    </a:p>
                  </a:txBody>
                  <a:tcPr marT="38100" marB="38100" marR="76200" marL="762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IN" sz="1200" u="none" cap="none" strike="noStrike">
                          <a:solidFill>
                            <a:schemeClr val="dk1"/>
                          </a:solidFill>
                        </a:rPr>
                        <a:t>Advertising Sales Representative </a:t>
                      </a:r>
                      <a:br>
                        <a:rPr b="0" lang="en-IN" sz="12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b="0" lang="en-IN" sz="1200" u="none" cap="none" strike="noStrike">
                          <a:solidFill>
                            <a:schemeClr val="dk1"/>
                          </a:solidFill>
                        </a:rPr>
                        <a:t>Vendor Partnership Manager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IN" sz="1200" u="none" cap="none" strike="noStrike">
                          <a:solidFill>
                            <a:schemeClr val="dk1"/>
                          </a:solidFill>
                        </a:rPr>
                        <a:t>Account Manager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IN" sz="1200" u="none" cap="none" strike="noStrike">
                          <a:solidFill>
                            <a:schemeClr val="dk1"/>
                          </a:solidFill>
                        </a:rPr>
                        <a:t>Dhruvi Andani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IN" sz="1200" u="none" cap="none" strike="noStrike">
                          <a:solidFill>
                            <a:schemeClr val="dk1"/>
                          </a:solidFill>
                        </a:rPr>
                        <a:t>Sonali Tokala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br>
                        <a:rPr lang="en-IN" sz="12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FFFFFF"/>
                          </a:solidFill>
                        </a:rPr>
                        <a:t> Customer Support Management</a:t>
                      </a:r>
                      <a:endParaRPr sz="1800" u="none" cap="none" strike="noStrike"/>
                    </a:p>
                  </a:txBody>
                  <a:tcPr marT="38100" marB="38100" marR="76200" marL="762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IN" sz="1200" u="none" cap="none" strike="noStrike">
                          <a:solidFill>
                            <a:schemeClr val="dk1"/>
                          </a:solidFill>
                        </a:rPr>
                        <a:t> Support Representative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IN" sz="1200" u="none" cap="none" strike="noStrike">
                          <a:solidFill>
                            <a:schemeClr val="dk1"/>
                          </a:solidFill>
                        </a:rPr>
                        <a:t>Khushi Vithlani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IN" sz="1200" u="none" cap="none" strike="noStrike">
                          <a:solidFill>
                            <a:schemeClr val="dk1"/>
                          </a:solidFill>
                        </a:rPr>
                        <a:t>Pratik Naik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3"/>
          <p:cNvSpPr/>
          <p:nvPr/>
        </p:nvSpPr>
        <p:spPr>
          <a:xfrm>
            <a:off x="3684588" y="2147888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2026-02-12T18:09:22Z</dcterms:created>
  <dc:creator>Janvi Patel</dc:creator>
</cp:coreProperties>
</file>