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D24F6-E826-6C30-F5E3-2ED5D7974226}" v="33" dt="2026-03-19T22:03:37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RxFlow: Use Case Diagram — 01. Account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566928"/>
            <a:ext cx="5257800" cy="4480560"/>
          </a:xfrm>
          <a:prstGeom prst="rect">
            <a:avLst/>
          </a:prstGeom>
          <a:solidFill>
            <a:srgbClr val="F0F4FF"/>
          </a:solidFill>
          <a:ln w="228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9936" y="603202"/>
            <a:ext cx="1542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Trebuchet MS"/>
              </a:rPr>
              <a:t>RxFlow – Account Management</a:t>
            </a:r>
          </a:p>
        </p:txBody>
      </p:sp>
      <p:pic>
        <p:nvPicPr>
          <p:cNvPr id="6" name="Picture 5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24210"/>
            <a:ext cx="256032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" y="969264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Pharmacy Admin /</a:t>
            </a:r>
          </a:p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Owner</a:t>
            </a:r>
          </a:p>
        </p:txBody>
      </p:sp>
      <p:pic>
        <p:nvPicPr>
          <p:cNvPr id="8" name="Picture 7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57262"/>
            <a:ext cx="256032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" y="153619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Pharmacist /</a:t>
            </a:r>
          </a:p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Pharmacy Staff</a:t>
            </a:r>
          </a:p>
        </p:txBody>
      </p:sp>
      <p:pic>
        <p:nvPicPr>
          <p:cNvPr id="10" name="Picture 9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19467"/>
            <a:ext cx="256032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" y="210312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Accountant</a:t>
            </a:r>
          </a:p>
        </p:txBody>
      </p:sp>
      <p:pic>
        <p:nvPicPr>
          <p:cNvPr id="12" name="Picture 11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72225"/>
            <a:ext cx="256032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" y="26700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Advertising Sales Representative</a:t>
            </a:r>
          </a:p>
        </p:txBody>
      </p:sp>
      <p:pic>
        <p:nvPicPr>
          <p:cNvPr id="14" name="Picture 13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39154"/>
            <a:ext cx="256032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" y="3236976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Vendor Partnership Manager</a:t>
            </a:r>
          </a:p>
        </p:txBody>
      </p:sp>
      <p:pic>
        <p:nvPicPr>
          <p:cNvPr id="16" name="Picture 15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487189"/>
            <a:ext cx="256032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" y="3803904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Account Manager</a:t>
            </a:r>
          </a:p>
        </p:txBody>
      </p:sp>
      <p:pic>
        <p:nvPicPr>
          <p:cNvPr id="18" name="Picture 17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082456"/>
            <a:ext cx="256032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" y="437083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Support Representative</a:t>
            </a:r>
          </a:p>
        </p:txBody>
      </p:sp>
      <p:sp>
        <p:nvSpPr>
          <p:cNvPr id="20" name="Oval 19"/>
          <p:cNvSpPr/>
          <p:nvPr/>
        </p:nvSpPr>
        <p:spPr>
          <a:xfrm>
            <a:off x="3749039" y="53035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59" y="5486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01.01 Sign Up (S1)</a:t>
            </a:r>
          </a:p>
        </p:txBody>
      </p:sp>
      <p:sp>
        <p:nvSpPr>
          <p:cNvPr id="22" name="Oval 21"/>
          <p:cNvSpPr/>
          <p:nvPr/>
        </p:nvSpPr>
        <p:spPr>
          <a:xfrm>
            <a:off x="3749039" y="117043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59" y="11887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01.02 Reset Password (S1)</a:t>
            </a:r>
          </a:p>
        </p:txBody>
      </p:sp>
      <p:sp>
        <p:nvSpPr>
          <p:cNvPr id="24" name="Oval 23"/>
          <p:cNvSpPr/>
          <p:nvPr/>
        </p:nvSpPr>
        <p:spPr>
          <a:xfrm>
            <a:off x="3749039" y="181051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94759" y="18288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01.03 Log In (S1)</a:t>
            </a:r>
          </a:p>
        </p:txBody>
      </p:sp>
      <p:sp>
        <p:nvSpPr>
          <p:cNvPr id="26" name="Oval 25"/>
          <p:cNvSpPr/>
          <p:nvPr/>
        </p:nvSpPr>
        <p:spPr>
          <a:xfrm>
            <a:off x="3749039" y="2450591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59" y="246887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01.04 Log Out (S1)</a:t>
            </a:r>
          </a:p>
        </p:txBody>
      </p:sp>
      <p:sp>
        <p:nvSpPr>
          <p:cNvPr id="28" name="Oval 27"/>
          <p:cNvSpPr/>
          <p:nvPr/>
        </p:nvSpPr>
        <p:spPr>
          <a:xfrm>
            <a:off x="3749039" y="309067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94759" y="31089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01.05 Update Profile (S1)</a:t>
            </a:r>
          </a:p>
        </p:txBody>
      </p:sp>
      <p:sp>
        <p:nvSpPr>
          <p:cNvPr id="30" name="Oval 29"/>
          <p:cNvSpPr/>
          <p:nvPr/>
        </p:nvSpPr>
        <p:spPr>
          <a:xfrm>
            <a:off x="3749039" y="373075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94759" y="374903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01.06 Manage User Roles (S2)</a:t>
            </a:r>
          </a:p>
        </p:txBody>
      </p:sp>
      <p:sp>
        <p:nvSpPr>
          <p:cNvPr id="3096" name="Line 3096"/>
          <p:cNvSpPr>
            <a:spLocks noGrp="1"/>
          </p:cNvSpPr>
          <p:nvPr/>
        </p:nvSpPr>
        <p:spPr>
          <a:xfrm>
            <a:off x="950976" y="740664"/>
            <a:ext cx="2798063" cy="2743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94" name="Line 4494"/>
          <p:cNvSpPr>
            <a:spLocks noGrp="1"/>
          </p:cNvSpPr>
          <p:nvPr/>
        </p:nvSpPr>
        <p:spPr>
          <a:xfrm>
            <a:off x="950976" y="740664"/>
            <a:ext cx="2798063" cy="66751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67" name="Line 6967"/>
          <p:cNvSpPr>
            <a:spLocks noGrp="1"/>
          </p:cNvSpPr>
          <p:nvPr/>
        </p:nvSpPr>
        <p:spPr>
          <a:xfrm>
            <a:off x="950976" y="1307592"/>
            <a:ext cx="2798063" cy="10058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10" name="Line 6610"/>
          <p:cNvSpPr>
            <a:spLocks noGrp="1"/>
          </p:cNvSpPr>
          <p:nvPr/>
        </p:nvSpPr>
        <p:spPr>
          <a:xfrm flipH="1">
            <a:off x="950976" y="1408176"/>
            <a:ext cx="2798063" cy="46634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29" name="Line 2929"/>
          <p:cNvSpPr>
            <a:spLocks noGrp="1"/>
          </p:cNvSpPr>
          <p:nvPr/>
        </p:nvSpPr>
        <p:spPr>
          <a:xfrm flipH="1">
            <a:off x="950976" y="1408176"/>
            <a:ext cx="2798063" cy="1033271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99" name="Line 8299"/>
          <p:cNvSpPr>
            <a:spLocks noGrp="1"/>
          </p:cNvSpPr>
          <p:nvPr/>
        </p:nvSpPr>
        <p:spPr>
          <a:xfrm flipH="1">
            <a:off x="950976" y="1408176"/>
            <a:ext cx="2798063" cy="1600200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1" name="Line 1591"/>
          <p:cNvSpPr>
            <a:spLocks noGrp="1"/>
          </p:cNvSpPr>
          <p:nvPr/>
        </p:nvSpPr>
        <p:spPr>
          <a:xfrm flipH="1">
            <a:off x="950976" y="1408176"/>
            <a:ext cx="2798063" cy="216712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5" name="Line 1335"/>
          <p:cNvSpPr>
            <a:spLocks noGrp="1"/>
          </p:cNvSpPr>
          <p:nvPr/>
        </p:nvSpPr>
        <p:spPr>
          <a:xfrm flipH="1">
            <a:off x="950976" y="1408176"/>
            <a:ext cx="2798063" cy="2734056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76" name="Line 3376"/>
          <p:cNvSpPr>
            <a:spLocks noGrp="1"/>
          </p:cNvSpPr>
          <p:nvPr/>
        </p:nvSpPr>
        <p:spPr>
          <a:xfrm>
            <a:off x="950976" y="740664"/>
            <a:ext cx="2798063" cy="130759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95" name="Line 5595"/>
          <p:cNvSpPr>
            <a:spLocks noGrp="1"/>
          </p:cNvSpPr>
          <p:nvPr/>
        </p:nvSpPr>
        <p:spPr>
          <a:xfrm>
            <a:off x="950976" y="1307592"/>
            <a:ext cx="2798063" cy="74066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46" name="Line 5046"/>
          <p:cNvSpPr>
            <a:spLocks noGrp="1"/>
          </p:cNvSpPr>
          <p:nvPr/>
        </p:nvSpPr>
        <p:spPr>
          <a:xfrm>
            <a:off x="950976" y="1874520"/>
            <a:ext cx="2798063" cy="173735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34" name="Line 6234"/>
          <p:cNvSpPr>
            <a:spLocks noGrp="1"/>
          </p:cNvSpPr>
          <p:nvPr/>
        </p:nvSpPr>
        <p:spPr>
          <a:xfrm flipH="1">
            <a:off x="950976" y="2048256"/>
            <a:ext cx="2798063" cy="393191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99" name="Line 1899"/>
          <p:cNvSpPr>
            <a:spLocks noGrp="1"/>
          </p:cNvSpPr>
          <p:nvPr/>
        </p:nvSpPr>
        <p:spPr>
          <a:xfrm flipH="1">
            <a:off x="950976" y="2048256"/>
            <a:ext cx="2798063" cy="960119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69" name="Line 2669"/>
          <p:cNvSpPr>
            <a:spLocks noGrp="1"/>
          </p:cNvSpPr>
          <p:nvPr/>
        </p:nvSpPr>
        <p:spPr>
          <a:xfrm flipH="1">
            <a:off x="950976" y="2048256"/>
            <a:ext cx="2798063" cy="152704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14" name="Line 2914"/>
          <p:cNvSpPr>
            <a:spLocks noGrp="1"/>
          </p:cNvSpPr>
          <p:nvPr/>
        </p:nvSpPr>
        <p:spPr>
          <a:xfrm flipH="1">
            <a:off x="950976" y="2048256"/>
            <a:ext cx="2798063" cy="2093976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28" name="Line 1728"/>
          <p:cNvSpPr>
            <a:spLocks noGrp="1"/>
          </p:cNvSpPr>
          <p:nvPr/>
        </p:nvSpPr>
        <p:spPr>
          <a:xfrm>
            <a:off x="950976" y="740664"/>
            <a:ext cx="2798063" cy="194767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68" name="Line 9068"/>
          <p:cNvSpPr>
            <a:spLocks noGrp="1"/>
          </p:cNvSpPr>
          <p:nvPr/>
        </p:nvSpPr>
        <p:spPr>
          <a:xfrm>
            <a:off x="950976" y="1307592"/>
            <a:ext cx="2798063" cy="138074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71" name="Line 3971"/>
          <p:cNvSpPr>
            <a:spLocks noGrp="1"/>
          </p:cNvSpPr>
          <p:nvPr/>
        </p:nvSpPr>
        <p:spPr>
          <a:xfrm>
            <a:off x="950976" y="1874520"/>
            <a:ext cx="2798063" cy="813815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3" name="Line 2493"/>
          <p:cNvSpPr>
            <a:spLocks noGrp="1"/>
          </p:cNvSpPr>
          <p:nvPr/>
        </p:nvSpPr>
        <p:spPr>
          <a:xfrm>
            <a:off x="950976" y="2441448"/>
            <a:ext cx="2798063" cy="24688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82" name="Line 3882"/>
          <p:cNvSpPr>
            <a:spLocks noGrp="1"/>
          </p:cNvSpPr>
          <p:nvPr/>
        </p:nvSpPr>
        <p:spPr>
          <a:xfrm flipH="1">
            <a:off x="950976" y="2688336"/>
            <a:ext cx="2798063" cy="320040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57" name="Line 1957"/>
          <p:cNvSpPr>
            <a:spLocks noGrp="1"/>
          </p:cNvSpPr>
          <p:nvPr/>
        </p:nvSpPr>
        <p:spPr>
          <a:xfrm flipH="1">
            <a:off x="950976" y="2688336"/>
            <a:ext cx="2798063" cy="88696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14" name="Line 6314"/>
          <p:cNvSpPr>
            <a:spLocks noGrp="1"/>
          </p:cNvSpPr>
          <p:nvPr/>
        </p:nvSpPr>
        <p:spPr>
          <a:xfrm flipH="1">
            <a:off x="950976" y="2688336"/>
            <a:ext cx="2798063" cy="1453896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75" name="Line 4575"/>
          <p:cNvSpPr>
            <a:spLocks noGrp="1"/>
          </p:cNvSpPr>
          <p:nvPr/>
        </p:nvSpPr>
        <p:spPr>
          <a:xfrm>
            <a:off x="950976" y="740664"/>
            <a:ext cx="2798063" cy="258775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16" name="Line 8916"/>
          <p:cNvSpPr>
            <a:spLocks noGrp="1"/>
          </p:cNvSpPr>
          <p:nvPr/>
        </p:nvSpPr>
        <p:spPr>
          <a:xfrm>
            <a:off x="950976" y="1307592"/>
            <a:ext cx="2798063" cy="202082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06" name="Line 1706"/>
          <p:cNvSpPr>
            <a:spLocks noGrp="1"/>
          </p:cNvSpPr>
          <p:nvPr/>
        </p:nvSpPr>
        <p:spPr>
          <a:xfrm>
            <a:off x="950976" y="1874520"/>
            <a:ext cx="2798063" cy="1453895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93" name="Line 8793"/>
          <p:cNvSpPr>
            <a:spLocks noGrp="1"/>
          </p:cNvSpPr>
          <p:nvPr/>
        </p:nvSpPr>
        <p:spPr>
          <a:xfrm>
            <a:off x="950976" y="2441448"/>
            <a:ext cx="2798063" cy="88696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19" name="Line 3919"/>
          <p:cNvSpPr>
            <a:spLocks noGrp="1"/>
          </p:cNvSpPr>
          <p:nvPr/>
        </p:nvSpPr>
        <p:spPr>
          <a:xfrm>
            <a:off x="950976" y="3008376"/>
            <a:ext cx="2798063" cy="320040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96" name="Line 1696"/>
          <p:cNvSpPr>
            <a:spLocks noGrp="1"/>
          </p:cNvSpPr>
          <p:nvPr/>
        </p:nvSpPr>
        <p:spPr>
          <a:xfrm flipH="1">
            <a:off x="950976" y="3328416"/>
            <a:ext cx="2798063" cy="24688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4" name="Line 2374"/>
          <p:cNvSpPr>
            <a:spLocks noGrp="1"/>
          </p:cNvSpPr>
          <p:nvPr/>
        </p:nvSpPr>
        <p:spPr>
          <a:xfrm flipH="1">
            <a:off x="950976" y="3328416"/>
            <a:ext cx="2798063" cy="813816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74" name="Line 2574"/>
          <p:cNvSpPr>
            <a:spLocks noGrp="1"/>
          </p:cNvSpPr>
          <p:nvPr/>
        </p:nvSpPr>
        <p:spPr>
          <a:xfrm>
            <a:off x="950976" y="740664"/>
            <a:ext cx="2798063" cy="322783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15" name="Line 1815"/>
          <p:cNvSpPr>
            <a:spLocks noGrp="1"/>
          </p:cNvSpPr>
          <p:nvPr/>
        </p:nvSpPr>
        <p:spPr>
          <a:xfrm>
            <a:off x="950976" y="1307592"/>
            <a:ext cx="2798063" cy="266090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87" name="Line 6087"/>
          <p:cNvSpPr>
            <a:spLocks noGrp="1"/>
          </p:cNvSpPr>
          <p:nvPr/>
        </p:nvSpPr>
        <p:spPr>
          <a:xfrm>
            <a:off x="950976" y="1874520"/>
            <a:ext cx="2798063" cy="2093975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0" name="Line 2090"/>
          <p:cNvSpPr>
            <a:spLocks noGrp="1"/>
          </p:cNvSpPr>
          <p:nvPr/>
        </p:nvSpPr>
        <p:spPr>
          <a:xfrm>
            <a:off x="950976" y="2441448"/>
            <a:ext cx="2798063" cy="152704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37" name="Line 7537"/>
          <p:cNvSpPr>
            <a:spLocks noGrp="1"/>
          </p:cNvSpPr>
          <p:nvPr/>
        </p:nvSpPr>
        <p:spPr>
          <a:xfrm>
            <a:off x="950976" y="3008376"/>
            <a:ext cx="2798063" cy="960119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63" name="Line 7763"/>
          <p:cNvSpPr>
            <a:spLocks noGrp="1"/>
          </p:cNvSpPr>
          <p:nvPr/>
        </p:nvSpPr>
        <p:spPr>
          <a:xfrm>
            <a:off x="950976" y="3575304"/>
            <a:ext cx="2798063" cy="393191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12" name="Line 4912"/>
          <p:cNvSpPr>
            <a:spLocks noGrp="1"/>
          </p:cNvSpPr>
          <p:nvPr/>
        </p:nvSpPr>
        <p:spPr>
          <a:xfrm flipH="1">
            <a:off x="950976" y="3968496"/>
            <a:ext cx="2798063" cy="173736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69" name="Rectangle 9068"/>
          <p:cNvSpPr/>
          <p:nvPr/>
        </p:nvSpPr>
        <p:spPr>
          <a:xfrm>
            <a:off x="6995160" y="4434840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0" name="TextBox 9069"/>
          <p:cNvSpPr txBox="1"/>
          <p:nvPr/>
        </p:nvSpPr>
        <p:spPr>
          <a:xfrm>
            <a:off x="7086600" y="44714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  <a:latin typeface="Calibri"/>
              </a:rPr>
              <a:t>Legend</a:t>
            </a:r>
          </a:p>
        </p:txBody>
      </p:sp>
      <p:sp>
        <p:nvSpPr>
          <p:cNvPr id="9071" name="Oval 9070"/>
          <p:cNvSpPr/>
          <p:nvPr/>
        </p:nvSpPr>
        <p:spPr>
          <a:xfrm>
            <a:off x="7086600" y="4681727"/>
            <a:ext cx="457200" cy="164592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TextBox 9071"/>
          <p:cNvSpPr txBox="1"/>
          <p:nvPr/>
        </p:nvSpPr>
        <p:spPr>
          <a:xfrm>
            <a:off x="7616952" y="4654296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E7D32"/>
                </a:solidFill>
                <a:latin typeface="Calibri"/>
              </a:rPr>
              <a:t>★ Planned (S1/S2)</a:t>
            </a:r>
          </a:p>
        </p:txBody>
      </p:sp>
      <p:sp>
        <p:nvSpPr>
          <p:cNvPr id="9073" name="Oval 9072"/>
          <p:cNvSpPr/>
          <p:nvPr/>
        </p:nvSpPr>
        <p:spPr>
          <a:xfrm>
            <a:off x="7086600" y="4873752"/>
            <a:ext cx="457200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4" name="TextBox 9073"/>
          <p:cNvSpPr txBox="1"/>
          <p:nvPr/>
        </p:nvSpPr>
        <p:spPr>
          <a:xfrm>
            <a:off x="7616952" y="4855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Planned later (S3)</a:t>
            </a:r>
          </a:p>
        </p:txBody>
      </p:sp>
      <p:sp>
        <p:nvSpPr>
          <p:cNvPr id="9075" name="TextBox 9074"/>
          <p:cNvSpPr txBox="1"/>
          <p:nvPr/>
        </p:nvSpPr>
        <p:spPr>
          <a:xfrm>
            <a:off x="182880" y="49194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Calibri"/>
              </a:rPr>
              <a:t>S1 = Sprint 1 (03-24-2026)   S2 = Sprint 2 (04-21-2026)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RxFlow: Use Case Diagram — 02. Patient &amp; Prescriber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594360"/>
            <a:ext cx="5806440" cy="4297680"/>
          </a:xfrm>
          <a:prstGeom prst="rect">
            <a:avLst/>
          </a:prstGeom>
          <a:solidFill>
            <a:srgbClr val="F0F4FF"/>
          </a:solidFill>
          <a:ln w="228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58568" y="640080"/>
            <a:ext cx="56235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Trebuchet MS"/>
              </a:rPr>
              <a:t>RxFlow – Patient &amp; Prescriber Management</a:t>
            </a:r>
          </a:p>
        </p:txBody>
      </p:sp>
      <p:pic>
        <p:nvPicPr>
          <p:cNvPr id="6" name="Picture 5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17320"/>
            <a:ext cx="256032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" y="1837943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Pharmacy Admin /</a:t>
            </a:r>
          </a:p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Owner</a:t>
            </a:r>
          </a:p>
        </p:txBody>
      </p:sp>
      <p:pic>
        <p:nvPicPr>
          <p:cNvPr id="8" name="Picture 7" descr="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88920"/>
            <a:ext cx="256032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" y="3209544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Pharmacist /</a:t>
            </a:r>
          </a:p>
          <a:p>
            <a:pPr algn="ctr"/>
            <a:r>
              <a:rPr sz="700" b="0">
                <a:solidFill>
                  <a:srgbClr val="1E3A5F"/>
                </a:solidFill>
                <a:latin typeface="Calibri"/>
              </a:rPr>
              <a:t>Pharmacy Staff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813815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978521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02.01 Create Patient Profile (S1)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1426464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5770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02.02 Update Patient Profile (S1)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2039112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213297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02.03 Search Patient Records (S1)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2651760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274561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02.04 Create Prescriber Profile (S2)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0" y="3264408"/>
            <a:ext cx="2011680" cy="475488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337243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★ 02.05 Fetch/Update Insurance Information (S2)</a:t>
            </a:r>
          </a:p>
        </p:txBody>
      </p:sp>
      <p:sp>
        <p:nvSpPr>
          <p:cNvPr id="9985" name="Line 9985"/>
          <p:cNvSpPr>
            <a:spLocks noGrp="1"/>
          </p:cNvSpPr>
          <p:nvPr/>
        </p:nvSpPr>
        <p:spPr>
          <a:xfrm flipH="1">
            <a:off x="950976" y="1051560"/>
            <a:ext cx="3163824" cy="55778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74" name="Line 4974"/>
          <p:cNvSpPr>
            <a:spLocks noGrp="1"/>
          </p:cNvSpPr>
          <p:nvPr/>
        </p:nvSpPr>
        <p:spPr>
          <a:xfrm>
            <a:off x="950976" y="1609344"/>
            <a:ext cx="3163824" cy="5486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60" name="Line 4260"/>
          <p:cNvSpPr>
            <a:spLocks noGrp="1"/>
          </p:cNvSpPr>
          <p:nvPr/>
        </p:nvSpPr>
        <p:spPr>
          <a:xfrm>
            <a:off x="950976" y="1609344"/>
            <a:ext cx="3163824" cy="667512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86" name="Line 5786"/>
          <p:cNvSpPr>
            <a:spLocks noGrp="1"/>
          </p:cNvSpPr>
          <p:nvPr/>
        </p:nvSpPr>
        <p:spPr>
          <a:xfrm>
            <a:off x="950976" y="1609344"/>
            <a:ext cx="3163824" cy="1280160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36" name="Line 4636"/>
          <p:cNvSpPr>
            <a:spLocks noGrp="1"/>
          </p:cNvSpPr>
          <p:nvPr/>
        </p:nvSpPr>
        <p:spPr>
          <a:xfrm>
            <a:off x="950976" y="1609344"/>
            <a:ext cx="3163824" cy="189280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71" name="Line 6571"/>
          <p:cNvSpPr>
            <a:spLocks noGrp="1"/>
          </p:cNvSpPr>
          <p:nvPr/>
        </p:nvSpPr>
        <p:spPr>
          <a:xfrm flipH="1">
            <a:off x="950976" y="1051560"/>
            <a:ext cx="3163824" cy="1929384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13" name="Line 5813"/>
          <p:cNvSpPr>
            <a:spLocks noGrp="1"/>
          </p:cNvSpPr>
          <p:nvPr/>
        </p:nvSpPr>
        <p:spPr>
          <a:xfrm flipH="1">
            <a:off x="950976" y="1664208"/>
            <a:ext cx="3163824" cy="1316735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17" name="Line 5617"/>
          <p:cNvSpPr>
            <a:spLocks noGrp="1"/>
          </p:cNvSpPr>
          <p:nvPr/>
        </p:nvSpPr>
        <p:spPr>
          <a:xfrm flipH="1">
            <a:off x="950976" y="2276856"/>
            <a:ext cx="3163824" cy="704087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64" name="Line 1964"/>
          <p:cNvSpPr>
            <a:spLocks noGrp="1"/>
          </p:cNvSpPr>
          <p:nvPr/>
        </p:nvSpPr>
        <p:spPr>
          <a:xfrm flipH="1">
            <a:off x="950976" y="2889504"/>
            <a:ext cx="3163824" cy="91439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51" name="Line 5351"/>
          <p:cNvSpPr>
            <a:spLocks noGrp="1"/>
          </p:cNvSpPr>
          <p:nvPr/>
        </p:nvSpPr>
        <p:spPr>
          <a:xfrm>
            <a:off x="950976" y="2980944"/>
            <a:ext cx="3163824" cy="521208"/>
          </a:xfrm>
          <a:prstGeom prst="line">
            <a:avLst/>
          </a:prstGeom>
          <a:noFill/>
          <a:ln w="10160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6" name="Rectangle 9985"/>
          <p:cNvSpPr/>
          <p:nvPr/>
        </p:nvSpPr>
        <p:spPr>
          <a:xfrm>
            <a:off x="6995160" y="4434840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7" name="TextBox 9986"/>
          <p:cNvSpPr txBox="1"/>
          <p:nvPr/>
        </p:nvSpPr>
        <p:spPr>
          <a:xfrm>
            <a:off x="7086600" y="44714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  <a:latin typeface="Calibri"/>
              </a:rPr>
              <a:t>Legend</a:t>
            </a:r>
          </a:p>
        </p:txBody>
      </p:sp>
      <p:sp>
        <p:nvSpPr>
          <p:cNvPr id="9988" name="Oval 9987"/>
          <p:cNvSpPr/>
          <p:nvPr/>
        </p:nvSpPr>
        <p:spPr>
          <a:xfrm>
            <a:off x="7086600" y="4681727"/>
            <a:ext cx="457200" cy="164592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9" name="TextBox 9988"/>
          <p:cNvSpPr txBox="1"/>
          <p:nvPr/>
        </p:nvSpPr>
        <p:spPr>
          <a:xfrm>
            <a:off x="7616952" y="4654296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E7D32"/>
                </a:solidFill>
                <a:latin typeface="Calibri"/>
              </a:rPr>
              <a:t>★ Planned (S1/S2)</a:t>
            </a:r>
          </a:p>
        </p:txBody>
      </p:sp>
      <p:sp>
        <p:nvSpPr>
          <p:cNvPr id="9990" name="Oval 9989"/>
          <p:cNvSpPr/>
          <p:nvPr/>
        </p:nvSpPr>
        <p:spPr>
          <a:xfrm>
            <a:off x="7086600" y="4873752"/>
            <a:ext cx="457200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91" name="TextBox 9990"/>
          <p:cNvSpPr txBox="1"/>
          <p:nvPr/>
        </p:nvSpPr>
        <p:spPr>
          <a:xfrm>
            <a:off x="7616952" y="4855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Planned later (S3)</a:t>
            </a:r>
          </a:p>
        </p:txBody>
      </p:sp>
      <p:sp>
        <p:nvSpPr>
          <p:cNvPr id="9992" name="TextBox 9991"/>
          <p:cNvSpPr txBox="1"/>
          <p:nvPr/>
        </p:nvSpPr>
        <p:spPr>
          <a:xfrm>
            <a:off x="182880" y="49194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Calibri"/>
              </a:rPr>
              <a:t>S1 = Sprint 1 (03-24-2026)   S2 = Sprint 2 (04-21-2026)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</cp:revision>
  <dcterms:created xsi:type="dcterms:W3CDTF">2013-01-27T09:14:16Z</dcterms:created>
  <dcterms:modified xsi:type="dcterms:W3CDTF">2026-03-19T22:03:51Z</dcterms:modified>
  <cp:category/>
</cp:coreProperties>
</file>