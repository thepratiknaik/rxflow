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Z6BHnervuCiqrOBYgsFVwgR0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9a812c2d83_0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" name="Google Shape;9;g39a812c2d83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9a812c2d83_0_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" name="Google Shape;15;g39a812c2d83_0_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a812c2d83_0_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a812c2d83_0_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a812c2d83_0_1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a812c2d83_0_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a812c2d83_1_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9a812c2d83_1_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a812c2d83_1_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9a812c2d83_1_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a812c2d83_1_1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9a812c2d83_1_1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a812c2d83_1_7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9a812c2d83_1_7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a812c2d83_1_1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9a812c2d83_1_1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a812c2d83_1_1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9a812c2d83_1_11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9a812c2d83_0_0"/>
          <p:cNvSpPr/>
          <p:nvPr/>
        </p:nvSpPr>
        <p:spPr>
          <a:xfrm>
            <a:off x="2122841" y="340160"/>
            <a:ext cx="8199000" cy="714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Sequence Diagram – User Story 03.04 – Complete Pickup </a:t>
            </a:r>
            <a:endParaRPr/>
          </a:p>
        </p:txBody>
      </p:sp>
      <p:sp>
        <p:nvSpPr>
          <p:cNvPr id="12" name="Google Shape;12;g39a812c2d83_0_0"/>
          <p:cNvSpPr txBox="1"/>
          <p:nvPr/>
        </p:nvSpPr>
        <p:spPr>
          <a:xfrm>
            <a:off x="959025" y="1767775"/>
            <a:ext cx="90984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 Scenario: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Pharmacist selects the prescription ready for pickup.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retrieves prescription details from the database.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verifies prescription eligibility for pickup.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Pharmacist confirms patient identity.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updates inventory stock for dispensed drugs.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updates prescription status to completed.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saves updated information in the database.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returns confirmation of successful pickup.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812c2d83_0_3"/>
          <p:cNvSpPr/>
          <p:nvPr/>
        </p:nvSpPr>
        <p:spPr>
          <a:xfrm>
            <a:off x="2122841" y="340160"/>
            <a:ext cx="8199000" cy="714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Sequence Diagram – User Story 04.03 – Track Lot Number</a:t>
            </a:r>
            <a:endParaRPr/>
          </a:p>
        </p:txBody>
      </p:sp>
      <p:sp>
        <p:nvSpPr>
          <p:cNvPr id="18" name="Google Shape;18;g39a812c2d83_0_3"/>
          <p:cNvSpPr/>
          <p:nvPr/>
        </p:nvSpPr>
        <p:spPr>
          <a:xfrm>
            <a:off x="2122841" y="340160"/>
            <a:ext cx="8199000" cy="714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Sequence Diagram – User Story 03.04 – Complete Pickup </a:t>
            </a:r>
            <a:endParaRPr/>
          </a:p>
        </p:txBody>
      </p:sp>
      <p:sp>
        <p:nvSpPr>
          <p:cNvPr id="19" name="Google Shape;19;g39a812c2d83_0_3"/>
          <p:cNvSpPr txBox="1"/>
          <p:nvPr/>
        </p:nvSpPr>
        <p:spPr>
          <a:xfrm>
            <a:off x="5890800" y="1674650"/>
            <a:ext cx="1259400" cy="491700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InventoryLot 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812c2d83_0_3"/>
          <p:cNvSpPr txBox="1"/>
          <p:nvPr/>
        </p:nvSpPr>
        <p:spPr>
          <a:xfrm>
            <a:off x="2849275" y="1612875"/>
            <a:ext cx="1527300" cy="491700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Prescription 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" name="Google Shape;21;g39a812c2d83_0_3"/>
          <p:cNvGrpSpPr/>
          <p:nvPr/>
        </p:nvGrpSpPr>
        <p:grpSpPr>
          <a:xfrm>
            <a:off x="400527" y="1508195"/>
            <a:ext cx="1527300" cy="1011266"/>
            <a:chOff x="595546" y="1326494"/>
            <a:chExt cx="1527300" cy="1011266"/>
          </a:xfrm>
        </p:grpSpPr>
        <p:pic>
          <p:nvPicPr>
            <p:cNvPr id="22" name="Google Shape;22;g39a812c2d83_0_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08275" y="1326494"/>
              <a:ext cx="635200" cy="655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g39a812c2d83_0_3"/>
            <p:cNvSpPr/>
            <p:nvPr/>
          </p:nvSpPr>
          <p:spPr>
            <a:xfrm>
              <a:off x="595546" y="1762960"/>
              <a:ext cx="1527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latin typeface="Calibri"/>
                  <a:ea typeface="Calibri"/>
                  <a:cs typeface="Calibri"/>
                  <a:sym typeface="Calibri"/>
                </a:rPr>
                <a:t>Pharmacist</a:t>
              </a:r>
              <a:endParaRPr b="1" sz="1000"/>
            </a:p>
          </p:txBody>
        </p:sp>
      </p:grpSp>
      <p:sp>
        <p:nvSpPr>
          <p:cNvPr id="24" name="Google Shape;24;g39a812c2d83_0_3"/>
          <p:cNvSpPr/>
          <p:nvPr/>
        </p:nvSpPr>
        <p:spPr>
          <a:xfrm flipH="1">
            <a:off x="970700" y="2425125"/>
            <a:ext cx="47400" cy="374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9a812c2d83_0_3"/>
          <p:cNvSpPr/>
          <p:nvPr/>
        </p:nvSpPr>
        <p:spPr>
          <a:xfrm flipH="1">
            <a:off x="3541825" y="2166350"/>
            <a:ext cx="47400" cy="394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812c2d83_0_3"/>
          <p:cNvSpPr/>
          <p:nvPr/>
        </p:nvSpPr>
        <p:spPr>
          <a:xfrm flipH="1">
            <a:off x="6662974" y="2207025"/>
            <a:ext cx="47400" cy="374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g39a812c2d83_0_3"/>
          <p:cNvCxnSpPr/>
          <p:nvPr/>
        </p:nvCxnSpPr>
        <p:spPr>
          <a:xfrm flipH="1" rot="10800000">
            <a:off x="1139213" y="2919650"/>
            <a:ext cx="2281500" cy="273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" name="Google Shape;28;g39a812c2d83_0_3"/>
          <p:cNvSpPr txBox="1"/>
          <p:nvPr/>
        </p:nvSpPr>
        <p:spPr>
          <a:xfrm>
            <a:off x="1383550" y="2546750"/>
            <a:ext cx="179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completePickup() </a:t>
            </a:r>
            <a:endParaRPr/>
          </a:p>
        </p:txBody>
      </p:sp>
      <p:sp>
        <p:nvSpPr>
          <p:cNvPr id="29" name="Google Shape;29;g39a812c2d83_0_3"/>
          <p:cNvSpPr txBox="1"/>
          <p:nvPr/>
        </p:nvSpPr>
        <p:spPr>
          <a:xfrm>
            <a:off x="1516300" y="3459911"/>
            <a:ext cx="152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setStatus()</a:t>
            </a:r>
            <a:endParaRPr/>
          </a:p>
        </p:txBody>
      </p:sp>
      <p:cxnSp>
        <p:nvCxnSpPr>
          <p:cNvPr id="30" name="Google Shape;30;g39a812c2d83_0_3"/>
          <p:cNvCxnSpPr/>
          <p:nvPr/>
        </p:nvCxnSpPr>
        <p:spPr>
          <a:xfrm flipH="1" rot="10800000">
            <a:off x="3729400" y="4909175"/>
            <a:ext cx="2656800" cy="264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" name="Google Shape;31;g39a812c2d83_0_3"/>
          <p:cNvSpPr txBox="1"/>
          <p:nvPr/>
        </p:nvSpPr>
        <p:spPr>
          <a:xfrm>
            <a:off x="3801300" y="4508975"/>
            <a:ext cx="264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updateQuantity() </a:t>
            </a:r>
            <a:endParaRPr/>
          </a:p>
        </p:txBody>
      </p:sp>
      <p:cxnSp>
        <p:nvCxnSpPr>
          <p:cNvPr id="32" name="Google Shape;32;g39a812c2d83_0_3"/>
          <p:cNvCxnSpPr/>
          <p:nvPr/>
        </p:nvCxnSpPr>
        <p:spPr>
          <a:xfrm flipH="1" rot="10800000">
            <a:off x="1150275" y="3860100"/>
            <a:ext cx="2331600" cy="525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/>
          <p:nvPr/>
        </p:nvSpPr>
        <p:spPr>
          <a:xfrm>
            <a:off x="1289491" y="162560"/>
            <a:ext cx="8199120" cy="71451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Sequence Diagram – User Story 04.03 – Track Lot Number</a:t>
            </a:r>
            <a:endParaRPr/>
          </a:p>
        </p:txBody>
      </p:sp>
      <p:sp>
        <p:nvSpPr>
          <p:cNvPr id="38" name="Google Shape;38;p1"/>
          <p:cNvSpPr txBox="1"/>
          <p:nvPr/>
        </p:nvSpPr>
        <p:spPr>
          <a:xfrm>
            <a:off x="746760" y="1679620"/>
            <a:ext cx="10698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 Scenario: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Pharmacist enters the lot number into the system.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validates the entered lot number format.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checks if the lot number exists in the database.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retrieves lot details from the database.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maps the lot to the corresponding drug information.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checks inventory status for the lot.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processes and compiles the retrieved information.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displays lot details to the pharmacist.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lot number is invalid or not found, the system displays an error message.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2122841" y="340160"/>
            <a:ext cx="8199000" cy="714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Sequence Diagram – User Story 04.03 – Track Lot Number</a:t>
            </a:r>
            <a:endParaRPr/>
          </a:p>
        </p:txBody>
      </p:sp>
      <p:grpSp>
        <p:nvGrpSpPr>
          <p:cNvPr id="44" name="Google Shape;44;p2"/>
          <p:cNvGrpSpPr/>
          <p:nvPr/>
        </p:nvGrpSpPr>
        <p:grpSpPr>
          <a:xfrm>
            <a:off x="330145" y="1316930"/>
            <a:ext cx="1972508" cy="1464162"/>
            <a:chOff x="562222" y="1326494"/>
            <a:chExt cx="1527300" cy="1133691"/>
          </a:xfrm>
        </p:grpSpPr>
        <p:pic>
          <p:nvPicPr>
            <p:cNvPr id="45" name="Google Shape;45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08275" y="1326494"/>
              <a:ext cx="635200" cy="655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2"/>
            <p:cNvSpPr/>
            <p:nvPr/>
          </p:nvSpPr>
          <p:spPr>
            <a:xfrm>
              <a:off x="562222" y="1885385"/>
              <a:ext cx="1527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025" lIns="118075" spcFirstLastPara="1" rIns="118075" wrap="square" tIns="59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8">
                  <a:latin typeface="Calibri"/>
                  <a:ea typeface="Calibri"/>
                  <a:cs typeface="Calibri"/>
                  <a:sym typeface="Calibri"/>
                </a:rPr>
                <a:t>Pharmasict</a:t>
              </a:r>
              <a:endParaRPr b="1" sz="1292"/>
            </a:p>
          </p:txBody>
        </p:sp>
      </p:grpSp>
      <p:sp>
        <p:nvSpPr>
          <p:cNvPr id="47" name="Google Shape;47;p2"/>
          <p:cNvSpPr txBox="1"/>
          <p:nvPr/>
        </p:nvSpPr>
        <p:spPr>
          <a:xfrm>
            <a:off x="2673850" y="1558225"/>
            <a:ext cx="1618500" cy="491700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InventoryLot 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7573750" y="1558225"/>
            <a:ext cx="1259400" cy="491700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Drug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286900" y="2601125"/>
            <a:ext cx="55500" cy="3663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 flipH="1">
            <a:off x="3198624" y="2152425"/>
            <a:ext cx="55500" cy="404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124250" y="2152425"/>
            <a:ext cx="55500" cy="404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2"/>
          <p:cNvCxnSpPr/>
          <p:nvPr/>
        </p:nvCxnSpPr>
        <p:spPr>
          <a:xfrm>
            <a:off x="1409813" y="3181300"/>
            <a:ext cx="1721400" cy="54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" name="Google Shape;53;p2"/>
          <p:cNvSpPr txBox="1"/>
          <p:nvPr/>
        </p:nvSpPr>
        <p:spPr>
          <a:xfrm>
            <a:off x="1409825" y="2868138"/>
            <a:ext cx="25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getLotsByDrug() </a:t>
            </a:r>
            <a:endParaRPr/>
          </a:p>
        </p:txBody>
      </p:sp>
      <p:sp>
        <p:nvSpPr>
          <p:cNvPr id="54" name="Google Shape;54;p2"/>
          <p:cNvSpPr txBox="1"/>
          <p:nvPr/>
        </p:nvSpPr>
        <p:spPr>
          <a:xfrm>
            <a:off x="4990025" y="33877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getDrugByNDC() </a:t>
            </a:r>
            <a:endParaRPr/>
          </a:p>
        </p:txBody>
      </p:sp>
      <p:cxnSp>
        <p:nvCxnSpPr>
          <p:cNvPr id="55" name="Google Shape;55;p2"/>
          <p:cNvCxnSpPr/>
          <p:nvPr/>
        </p:nvCxnSpPr>
        <p:spPr>
          <a:xfrm flipH="1" rot="10800000">
            <a:off x="3388325" y="3755575"/>
            <a:ext cx="4601700" cy="342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" name="Google Shape;56;p2"/>
          <p:cNvSpPr txBox="1"/>
          <p:nvPr/>
        </p:nvSpPr>
        <p:spPr>
          <a:xfrm>
            <a:off x="4402300" y="4518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isControlled() </a:t>
            </a:r>
            <a:endParaRPr/>
          </a:p>
        </p:txBody>
      </p:sp>
      <p:cxnSp>
        <p:nvCxnSpPr>
          <p:cNvPr id="57" name="Google Shape;57;p2"/>
          <p:cNvCxnSpPr/>
          <p:nvPr/>
        </p:nvCxnSpPr>
        <p:spPr>
          <a:xfrm flipH="1" rot="10800000">
            <a:off x="3388338" y="4918925"/>
            <a:ext cx="4601700" cy="342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812c2d83_0_9"/>
          <p:cNvSpPr/>
          <p:nvPr/>
        </p:nvSpPr>
        <p:spPr>
          <a:xfrm>
            <a:off x="2122841" y="340160"/>
            <a:ext cx="8199000" cy="714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Sequence Diagram – User Story 05.01 –Generate Invoice</a:t>
            </a:r>
            <a:endParaRPr/>
          </a:p>
        </p:txBody>
      </p:sp>
      <p:sp>
        <p:nvSpPr>
          <p:cNvPr id="63" name="Google Shape;63;g39a812c2d83_0_9"/>
          <p:cNvSpPr txBox="1"/>
          <p:nvPr/>
        </p:nvSpPr>
        <p:spPr>
          <a:xfrm>
            <a:off x="860700" y="1590175"/>
            <a:ext cx="9675000" cy="3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 Scenario: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Pharmacist initiates invoice generation.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retrieves prescription details from the database.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retrieves insurance information if applicable.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calculates total payable amount.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generates invoice details.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stores invoice in the database.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displays invoice to the pharmacist.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returns confirmation of invoice generation.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a812c2d83_0_12"/>
          <p:cNvSpPr/>
          <p:nvPr/>
        </p:nvSpPr>
        <p:spPr>
          <a:xfrm>
            <a:off x="2122841" y="340160"/>
            <a:ext cx="8199000" cy="714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Sequence Diagram – User Story 05.01 –Generate Invoice</a:t>
            </a:r>
            <a:endParaRPr/>
          </a:p>
        </p:txBody>
      </p:sp>
      <p:grpSp>
        <p:nvGrpSpPr>
          <p:cNvPr id="69" name="Google Shape;69;g39a812c2d83_0_12"/>
          <p:cNvGrpSpPr/>
          <p:nvPr/>
        </p:nvGrpSpPr>
        <p:grpSpPr>
          <a:xfrm>
            <a:off x="2140796" y="1511268"/>
            <a:ext cx="1728445" cy="1144450"/>
            <a:chOff x="595546" y="1326494"/>
            <a:chExt cx="1527300" cy="1011266"/>
          </a:xfrm>
        </p:grpSpPr>
        <p:pic>
          <p:nvPicPr>
            <p:cNvPr id="70" name="Google Shape;70;g39a812c2d83_0_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08275" y="1326494"/>
              <a:ext cx="635200" cy="655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g39a812c2d83_0_12"/>
            <p:cNvSpPr/>
            <p:nvPr/>
          </p:nvSpPr>
          <p:spPr>
            <a:xfrm>
              <a:off x="595546" y="1762960"/>
              <a:ext cx="1527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1725" lIns="103475" spcFirstLastPara="1" rIns="103475" wrap="square" tIns="517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Pharmac</a:t>
              </a:r>
              <a:r>
                <a:rPr b="1" lang="en-US" sz="1584">
                  <a:latin typeface="Calibri"/>
                  <a:ea typeface="Calibri"/>
                  <a:cs typeface="Calibri"/>
                  <a:sym typeface="Calibri"/>
                </a:rPr>
                <a:t>y Admin</a:t>
              </a:r>
              <a:endParaRPr b="1" sz="1132"/>
            </a:p>
          </p:txBody>
        </p:sp>
      </p:grpSp>
      <p:sp>
        <p:nvSpPr>
          <p:cNvPr id="72" name="Google Shape;72;g39a812c2d83_0_12"/>
          <p:cNvSpPr txBox="1"/>
          <p:nvPr/>
        </p:nvSpPr>
        <p:spPr>
          <a:xfrm>
            <a:off x="5263768" y="1734065"/>
            <a:ext cx="1020600" cy="373200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Invoice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9a812c2d83_0_12"/>
          <p:cNvSpPr/>
          <p:nvPr/>
        </p:nvSpPr>
        <p:spPr>
          <a:xfrm>
            <a:off x="2977268" y="2505500"/>
            <a:ext cx="55500" cy="400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9a812c2d83_0_12"/>
          <p:cNvSpPr/>
          <p:nvPr/>
        </p:nvSpPr>
        <p:spPr>
          <a:xfrm flipH="1">
            <a:off x="5690810" y="2261725"/>
            <a:ext cx="55500" cy="4246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g39a812c2d83_0_12"/>
          <p:cNvCxnSpPr/>
          <p:nvPr/>
        </p:nvCxnSpPr>
        <p:spPr>
          <a:xfrm flipH="1" rot="10800000">
            <a:off x="3153650" y="3229100"/>
            <a:ext cx="2353500" cy="117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" name="Google Shape;76;g39a812c2d83_0_12"/>
          <p:cNvSpPr txBox="1"/>
          <p:nvPr/>
        </p:nvSpPr>
        <p:spPr>
          <a:xfrm>
            <a:off x="3438398" y="2824026"/>
            <a:ext cx="184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generateInvoice() </a:t>
            </a:r>
            <a:endParaRPr/>
          </a:p>
        </p:txBody>
      </p:sp>
      <p:sp>
        <p:nvSpPr>
          <p:cNvPr id="77" name="Google Shape;77;g39a812c2d83_0_12"/>
          <p:cNvSpPr txBox="1"/>
          <p:nvPr/>
        </p:nvSpPr>
        <p:spPr>
          <a:xfrm>
            <a:off x="6449435" y="3424200"/>
            <a:ext cx="102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9a812c2d83_0_12"/>
          <p:cNvSpPr txBox="1"/>
          <p:nvPr/>
        </p:nvSpPr>
        <p:spPr>
          <a:xfrm>
            <a:off x="6043746" y="3646625"/>
            <a:ext cx="213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generateBillingReport() </a:t>
            </a:r>
            <a:endParaRPr/>
          </a:p>
        </p:txBody>
      </p:sp>
      <p:cxnSp>
        <p:nvCxnSpPr>
          <p:cNvPr id="79" name="Google Shape;79;g39a812c2d83_0_12"/>
          <p:cNvCxnSpPr/>
          <p:nvPr/>
        </p:nvCxnSpPr>
        <p:spPr>
          <a:xfrm rot="10800000">
            <a:off x="5875360" y="4060925"/>
            <a:ext cx="2567400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0" name="Google Shape;80;g39a812c2d83_0_12"/>
          <p:cNvSpPr txBox="1"/>
          <p:nvPr/>
        </p:nvSpPr>
        <p:spPr>
          <a:xfrm>
            <a:off x="8031018" y="1734065"/>
            <a:ext cx="1020600" cy="373200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Pharmacy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9a812c2d83_0_12"/>
          <p:cNvSpPr/>
          <p:nvPr/>
        </p:nvSpPr>
        <p:spPr>
          <a:xfrm flipH="1">
            <a:off x="8588785" y="2383550"/>
            <a:ext cx="55500" cy="4246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9a812c2d83_0_12"/>
          <p:cNvSpPr txBox="1"/>
          <p:nvPr/>
        </p:nvSpPr>
        <p:spPr>
          <a:xfrm>
            <a:off x="3621275" y="4670548"/>
            <a:ext cx="172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applyDiscount() </a:t>
            </a:r>
            <a:endParaRPr/>
          </a:p>
        </p:txBody>
      </p:sp>
      <p:cxnSp>
        <p:nvCxnSpPr>
          <p:cNvPr id="83" name="Google Shape;83;g39a812c2d83_0_12"/>
          <p:cNvCxnSpPr/>
          <p:nvPr/>
        </p:nvCxnSpPr>
        <p:spPr>
          <a:xfrm flipH="1" rot="10800000">
            <a:off x="3185038" y="4993525"/>
            <a:ext cx="2353500" cy="117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a812c2d83_1_3"/>
          <p:cNvSpPr/>
          <p:nvPr/>
        </p:nvSpPr>
        <p:spPr>
          <a:xfrm>
            <a:off x="2122841" y="340160"/>
            <a:ext cx="8199000" cy="714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Sequence Diagram – User Story 05.02 – Verify Payment</a:t>
            </a:r>
            <a:endParaRPr/>
          </a:p>
        </p:txBody>
      </p:sp>
      <p:sp>
        <p:nvSpPr>
          <p:cNvPr id="89" name="Google Shape;89;g39a812c2d83_1_3"/>
          <p:cNvSpPr txBox="1"/>
          <p:nvPr/>
        </p:nvSpPr>
        <p:spPr>
          <a:xfrm>
            <a:off x="727850" y="1773925"/>
            <a:ext cx="9878100" cy="42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Use case scenario: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Pharmacy Admin requests to verify payment for an invoice.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System retrieves the selected invoice details from the database.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System updates the payment verification status.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System updates the invoice status to Paid if payment is valid.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System records the verification action in the audit log.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812c2d83_1_7"/>
          <p:cNvSpPr/>
          <p:nvPr/>
        </p:nvSpPr>
        <p:spPr>
          <a:xfrm>
            <a:off x="2188687" y="241396"/>
            <a:ext cx="8096400" cy="632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Sequence Diagram – User Story 05.02 – Verify Payment</a:t>
            </a:r>
            <a:endParaRPr/>
          </a:p>
        </p:txBody>
      </p:sp>
      <p:grpSp>
        <p:nvGrpSpPr>
          <p:cNvPr id="95" name="Google Shape;95;g39a812c2d83_1_7"/>
          <p:cNvGrpSpPr/>
          <p:nvPr/>
        </p:nvGrpSpPr>
        <p:grpSpPr>
          <a:xfrm>
            <a:off x="2235761" y="1074120"/>
            <a:ext cx="1527300" cy="1011266"/>
            <a:chOff x="595546" y="1326494"/>
            <a:chExt cx="1527300" cy="1011266"/>
          </a:xfrm>
        </p:grpSpPr>
        <p:pic>
          <p:nvPicPr>
            <p:cNvPr id="96" name="Google Shape;96;g39a812c2d83_1_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08275" y="1326494"/>
              <a:ext cx="635200" cy="655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g39a812c2d83_1_7"/>
            <p:cNvSpPr/>
            <p:nvPr/>
          </p:nvSpPr>
          <p:spPr>
            <a:xfrm>
              <a:off x="595546" y="1762960"/>
              <a:ext cx="1527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latin typeface="Calibri"/>
                  <a:ea typeface="Calibri"/>
                  <a:cs typeface="Calibri"/>
                  <a:sym typeface="Calibri"/>
                </a:rPr>
                <a:t>User</a:t>
              </a:r>
              <a:endParaRPr b="1" sz="1000"/>
            </a:p>
          </p:txBody>
        </p:sp>
      </p:grpSp>
      <p:sp>
        <p:nvSpPr>
          <p:cNvPr id="98" name="Google Shape;98;g39a812c2d83_1_7"/>
          <p:cNvSpPr/>
          <p:nvPr/>
        </p:nvSpPr>
        <p:spPr>
          <a:xfrm>
            <a:off x="2950520" y="2085380"/>
            <a:ext cx="97800" cy="4265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9a812c2d83_1_7"/>
          <p:cNvSpPr txBox="1"/>
          <p:nvPr/>
        </p:nvSpPr>
        <p:spPr>
          <a:xfrm>
            <a:off x="5703248" y="1119290"/>
            <a:ext cx="1020600" cy="373200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Invoice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9a812c2d83_1_7"/>
          <p:cNvSpPr txBox="1"/>
          <p:nvPr/>
        </p:nvSpPr>
        <p:spPr>
          <a:xfrm>
            <a:off x="8720085" y="2070117"/>
            <a:ext cx="1020600" cy="373200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Payment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9a812c2d83_1_7"/>
          <p:cNvSpPr/>
          <p:nvPr/>
        </p:nvSpPr>
        <p:spPr>
          <a:xfrm>
            <a:off x="6164640" y="1762762"/>
            <a:ext cx="97800" cy="3748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9a812c2d83_1_7"/>
          <p:cNvSpPr/>
          <p:nvPr/>
        </p:nvSpPr>
        <p:spPr>
          <a:xfrm>
            <a:off x="9181478" y="2848575"/>
            <a:ext cx="97800" cy="350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g39a812c2d83_1_7"/>
          <p:cNvCxnSpPr/>
          <p:nvPr/>
        </p:nvCxnSpPr>
        <p:spPr>
          <a:xfrm>
            <a:off x="3333568" y="2760415"/>
            <a:ext cx="2601300" cy="168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4" name="Google Shape;104;g39a812c2d83_1_7"/>
          <p:cNvSpPr txBox="1"/>
          <p:nvPr/>
        </p:nvSpPr>
        <p:spPr>
          <a:xfrm>
            <a:off x="3603060" y="2444475"/>
            <a:ext cx="1927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generateInvoice()</a:t>
            </a:r>
            <a:endParaRPr/>
          </a:p>
        </p:txBody>
      </p:sp>
      <p:sp>
        <p:nvSpPr>
          <p:cNvPr id="105" name="Google Shape;105;g39a812c2d83_1_7"/>
          <p:cNvSpPr txBox="1"/>
          <p:nvPr/>
        </p:nvSpPr>
        <p:spPr>
          <a:xfrm>
            <a:off x="4997699" y="5877292"/>
            <a:ext cx="1580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verifyPayment()</a:t>
            </a:r>
            <a:endParaRPr/>
          </a:p>
        </p:txBody>
      </p:sp>
      <p:cxnSp>
        <p:nvCxnSpPr>
          <p:cNvPr id="106" name="Google Shape;106;g39a812c2d83_1_7"/>
          <p:cNvCxnSpPr/>
          <p:nvPr/>
        </p:nvCxnSpPr>
        <p:spPr>
          <a:xfrm rot="10800000">
            <a:off x="3320175" y="6176550"/>
            <a:ext cx="5598000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7" name="Google Shape;107;g39a812c2d83_1_7"/>
          <p:cNvCxnSpPr>
            <a:stCxn id="100" idx="2"/>
            <a:endCxn id="102" idx="0"/>
          </p:cNvCxnSpPr>
          <p:nvPr/>
        </p:nvCxnSpPr>
        <p:spPr>
          <a:xfrm>
            <a:off x="9230385" y="2443317"/>
            <a:ext cx="0" cy="40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g39a812c2d83_1_7"/>
          <p:cNvCxnSpPr>
            <a:stCxn id="99" idx="2"/>
            <a:endCxn id="101" idx="0"/>
          </p:cNvCxnSpPr>
          <p:nvPr/>
        </p:nvCxnSpPr>
        <p:spPr>
          <a:xfrm>
            <a:off x="6213548" y="1492490"/>
            <a:ext cx="0" cy="27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g39a812c2d83_1_7"/>
          <p:cNvCxnSpPr/>
          <p:nvPr/>
        </p:nvCxnSpPr>
        <p:spPr>
          <a:xfrm>
            <a:off x="6588590" y="4060925"/>
            <a:ext cx="2258400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0" name="Google Shape;110;g39a812c2d83_1_7"/>
          <p:cNvSpPr txBox="1"/>
          <p:nvPr/>
        </p:nvSpPr>
        <p:spPr>
          <a:xfrm>
            <a:off x="6643911" y="3726014"/>
            <a:ext cx="21603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getPaymentByInvoice()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a812c2d83_1_11"/>
          <p:cNvSpPr/>
          <p:nvPr/>
        </p:nvSpPr>
        <p:spPr>
          <a:xfrm>
            <a:off x="2122841" y="340160"/>
            <a:ext cx="8199000" cy="714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Sequence Diagram – User Story 05.03 – Payment Processing</a:t>
            </a:r>
            <a:endParaRPr/>
          </a:p>
        </p:txBody>
      </p:sp>
      <p:sp>
        <p:nvSpPr>
          <p:cNvPr id="116" name="Google Shape;116;g39a812c2d83_1_11"/>
          <p:cNvSpPr txBox="1"/>
          <p:nvPr/>
        </p:nvSpPr>
        <p:spPr>
          <a:xfrm>
            <a:off x="727850" y="1773925"/>
            <a:ext cx="9878100" cy="42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Use case scenario: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Pharmacy Admin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initiates payment for an invoice.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System retrieves invoice details and calculates the payable amount.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System processes the payment transaction.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System creates and stores the payment record.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System updates the invoice status.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System displays the payment result to the user.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a812c2d83_1_70"/>
          <p:cNvSpPr/>
          <p:nvPr/>
        </p:nvSpPr>
        <p:spPr>
          <a:xfrm>
            <a:off x="2188687" y="241396"/>
            <a:ext cx="8096400" cy="632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Sequence Diagram –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 Story 05.03 – Payment Processing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g39a812c2d83_1_70"/>
          <p:cNvGrpSpPr/>
          <p:nvPr/>
        </p:nvGrpSpPr>
        <p:grpSpPr>
          <a:xfrm>
            <a:off x="2342731" y="1074120"/>
            <a:ext cx="1527300" cy="1011266"/>
            <a:chOff x="595546" y="1326494"/>
            <a:chExt cx="1527300" cy="1011266"/>
          </a:xfrm>
        </p:grpSpPr>
        <p:pic>
          <p:nvPicPr>
            <p:cNvPr id="123" name="Google Shape;123;g39a812c2d83_1_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08275" y="1326494"/>
              <a:ext cx="635200" cy="655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g39a812c2d83_1_70"/>
            <p:cNvSpPr/>
            <p:nvPr/>
          </p:nvSpPr>
          <p:spPr>
            <a:xfrm>
              <a:off x="595546" y="1762960"/>
              <a:ext cx="1527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latin typeface="Calibri"/>
                  <a:ea typeface="Calibri"/>
                  <a:cs typeface="Calibri"/>
                  <a:sym typeface="Calibri"/>
                </a:rPr>
                <a:t>User</a:t>
              </a:r>
              <a:endParaRPr b="1" sz="1000"/>
            </a:p>
          </p:txBody>
        </p:sp>
      </p:grpSp>
      <p:sp>
        <p:nvSpPr>
          <p:cNvPr id="125" name="Google Shape;125;g39a812c2d83_1_70"/>
          <p:cNvSpPr/>
          <p:nvPr/>
        </p:nvSpPr>
        <p:spPr>
          <a:xfrm>
            <a:off x="3057490" y="2085380"/>
            <a:ext cx="97800" cy="4265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9a812c2d83_1_70"/>
          <p:cNvSpPr txBox="1"/>
          <p:nvPr/>
        </p:nvSpPr>
        <p:spPr>
          <a:xfrm>
            <a:off x="5608163" y="1226260"/>
            <a:ext cx="1020600" cy="373200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Invoice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9a812c2d83_1_70"/>
          <p:cNvSpPr txBox="1"/>
          <p:nvPr/>
        </p:nvSpPr>
        <p:spPr>
          <a:xfrm>
            <a:off x="8518019" y="2200861"/>
            <a:ext cx="1020600" cy="373200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Payment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9a812c2d83_1_70"/>
          <p:cNvSpPr/>
          <p:nvPr/>
        </p:nvSpPr>
        <p:spPr>
          <a:xfrm>
            <a:off x="6069555" y="1871425"/>
            <a:ext cx="97800" cy="3639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9a812c2d83_1_70"/>
          <p:cNvSpPr/>
          <p:nvPr/>
        </p:nvSpPr>
        <p:spPr>
          <a:xfrm>
            <a:off x="8979423" y="2848575"/>
            <a:ext cx="97800" cy="350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g39a812c2d83_1_70"/>
          <p:cNvCxnSpPr/>
          <p:nvPr/>
        </p:nvCxnSpPr>
        <p:spPr>
          <a:xfrm>
            <a:off x="3333568" y="2760415"/>
            <a:ext cx="2601300" cy="168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1" name="Google Shape;131;g39a812c2d83_1_70"/>
          <p:cNvSpPr txBox="1"/>
          <p:nvPr/>
        </p:nvSpPr>
        <p:spPr>
          <a:xfrm>
            <a:off x="4045059" y="2444468"/>
            <a:ext cx="1580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applyDiscount()</a:t>
            </a:r>
            <a:endParaRPr/>
          </a:p>
        </p:txBody>
      </p:sp>
      <p:sp>
        <p:nvSpPr>
          <p:cNvPr id="132" name="Google Shape;132;g39a812c2d83_1_70"/>
          <p:cNvSpPr txBox="1"/>
          <p:nvPr/>
        </p:nvSpPr>
        <p:spPr>
          <a:xfrm>
            <a:off x="5092772" y="5651474"/>
            <a:ext cx="17334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processPayment()</a:t>
            </a:r>
            <a:endParaRPr/>
          </a:p>
        </p:txBody>
      </p:sp>
      <p:cxnSp>
        <p:nvCxnSpPr>
          <p:cNvPr id="133" name="Google Shape;133;g39a812c2d83_1_70"/>
          <p:cNvCxnSpPr/>
          <p:nvPr/>
        </p:nvCxnSpPr>
        <p:spPr>
          <a:xfrm flipH="1" rot="10800000">
            <a:off x="3427023" y="5967298"/>
            <a:ext cx="4915800" cy="72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4" name="Google Shape;134;g39a812c2d83_1_70"/>
          <p:cNvSpPr txBox="1"/>
          <p:nvPr/>
        </p:nvSpPr>
        <p:spPr>
          <a:xfrm>
            <a:off x="6527451" y="3568508"/>
            <a:ext cx="2034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getPaymentByInvoice</a:t>
            </a:r>
            <a:r>
              <a:rPr lang="en-US"/>
              <a:t>()</a:t>
            </a:r>
            <a:endParaRPr/>
          </a:p>
        </p:txBody>
      </p:sp>
      <p:cxnSp>
        <p:nvCxnSpPr>
          <p:cNvPr id="135" name="Google Shape;135;g39a812c2d83_1_70"/>
          <p:cNvCxnSpPr/>
          <p:nvPr/>
        </p:nvCxnSpPr>
        <p:spPr>
          <a:xfrm>
            <a:off x="6445974" y="3918286"/>
            <a:ext cx="2187000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6" name="Google Shape;136;g39a812c2d83_1_70"/>
          <p:cNvCxnSpPr>
            <a:stCxn id="126" idx="2"/>
            <a:endCxn id="128" idx="0"/>
          </p:cNvCxnSpPr>
          <p:nvPr/>
        </p:nvCxnSpPr>
        <p:spPr>
          <a:xfrm>
            <a:off x="6118463" y="1599460"/>
            <a:ext cx="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g39a812c2d83_1_70"/>
          <p:cNvCxnSpPr>
            <a:stCxn id="129" idx="0"/>
            <a:endCxn id="127" idx="2"/>
          </p:cNvCxnSpPr>
          <p:nvPr/>
        </p:nvCxnSpPr>
        <p:spPr>
          <a:xfrm rot="10800000">
            <a:off x="9028323" y="2574075"/>
            <a:ext cx="0" cy="2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812c2d83_1_19"/>
          <p:cNvSpPr/>
          <p:nvPr/>
        </p:nvSpPr>
        <p:spPr>
          <a:xfrm>
            <a:off x="2122841" y="340160"/>
            <a:ext cx="8199000" cy="714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Sequence Diagram – User Story 05.07 – Manage Subscription Plan</a:t>
            </a:r>
            <a:endParaRPr/>
          </a:p>
        </p:txBody>
      </p:sp>
      <p:sp>
        <p:nvSpPr>
          <p:cNvPr id="143" name="Google Shape;143;g39a812c2d83_1_19"/>
          <p:cNvSpPr txBox="1"/>
          <p:nvPr/>
        </p:nvSpPr>
        <p:spPr>
          <a:xfrm>
            <a:off x="727850" y="1773925"/>
            <a:ext cx="9878100" cy="42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Use case scenario: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Pharmacy Admin requests to change the subscription plan.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System retrieves current subscription and billing details.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User selects to upgrade, downgrade, or cancel the plan.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System processes the billing update.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System updates the subscription plan status.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System displays the updated subscription and billing information to the user.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a812c2d83_1_112"/>
          <p:cNvSpPr/>
          <p:nvPr/>
        </p:nvSpPr>
        <p:spPr>
          <a:xfrm>
            <a:off x="2188687" y="241396"/>
            <a:ext cx="8096400" cy="632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Sequence Diagram – User Story 0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5.07 – Manage Subscription Plan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g39a812c2d83_1_112"/>
          <p:cNvGrpSpPr/>
          <p:nvPr/>
        </p:nvGrpSpPr>
        <p:grpSpPr>
          <a:xfrm>
            <a:off x="2140676" y="1442574"/>
            <a:ext cx="1527300" cy="1011266"/>
            <a:chOff x="595546" y="1326494"/>
            <a:chExt cx="1527300" cy="1011266"/>
          </a:xfrm>
        </p:grpSpPr>
        <p:pic>
          <p:nvPicPr>
            <p:cNvPr id="150" name="Google Shape;150;g39a812c2d83_1_1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08275" y="1326494"/>
              <a:ext cx="635200" cy="655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g39a812c2d83_1_112"/>
            <p:cNvSpPr/>
            <p:nvPr/>
          </p:nvSpPr>
          <p:spPr>
            <a:xfrm>
              <a:off x="595546" y="1762960"/>
              <a:ext cx="1527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latin typeface="Calibri"/>
                  <a:ea typeface="Calibri"/>
                  <a:cs typeface="Calibri"/>
                  <a:sym typeface="Calibri"/>
                </a:rPr>
                <a:t>User</a:t>
              </a:r>
              <a:endParaRPr b="1" sz="1000"/>
            </a:p>
          </p:txBody>
        </p:sp>
      </p:grpSp>
      <p:sp>
        <p:nvSpPr>
          <p:cNvPr id="152" name="Google Shape;152;g39a812c2d83_1_112"/>
          <p:cNvSpPr/>
          <p:nvPr/>
        </p:nvSpPr>
        <p:spPr>
          <a:xfrm>
            <a:off x="2855420" y="2453829"/>
            <a:ext cx="97800" cy="328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9a812c2d83_1_112"/>
          <p:cNvSpPr txBox="1"/>
          <p:nvPr/>
        </p:nvSpPr>
        <p:spPr>
          <a:xfrm>
            <a:off x="5097081" y="1594714"/>
            <a:ext cx="1020600" cy="373200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Pharmcy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9a812c2d83_1_112"/>
          <p:cNvSpPr txBox="1"/>
          <p:nvPr/>
        </p:nvSpPr>
        <p:spPr>
          <a:xfrm>
            <a:off x="8006948" y="1594715"/>
            <a:ext cx="1020600" cy="373200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Audit Log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9a812c2d83_1_112"/>
          <p:cNvSpPr/>
          <p:nvPr/>
        </p:nvSpPr>
        <p:spPr>
          <a:xfrm>
            <a:off x="5558474" y="2239879"/>
            <a:ext cx="97800" cy="350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9a812c2d83_1_112"/>
          <p:cNvSpPr/>
          <p:nvPr/>
        </p:nvSpPr>
        <p:spPr>
          <a:xfrm>
            <a:off x="8468352" y="2242429"/>
            <a:ext cx="97800" cy="350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g39a812c2d83_1_112"/>
          <p:cNvCxnSpPr/>
          <p:nvPr/>
        </p:nvCxnSpPr>
        <p:spPr>
          <a:xfrm flipH="1" rot="10800000">
            <a:off x="3176263" y="4999954"/>
            <a:ext cx="2199000" cy="237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8" name="Google Shape;158;g39a812c2d83_1_112"/>
          <p:cNvSpPr txBox="1"/>
          <p:nvPr/>
        </p:nvSpPr>
        <p:spPr>
          <a:xfrm>
            <a:off x="3136440" y="4619554"/>
            <a:ext cx="21909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update</a:t>
            </a:r>
            <a:r>
              <a:rPr lang="en-US"/>
              <a:t>SubscriptionTier</a:t>
            </a:r>
            <a:r>
              <a:rPr lang="en-US"/>
              <a:t>()</a:t>
            </a:r>
            <a:endParaRPr/>
          </a:p>
        </p:txBody>
      </p:sp>
      <p:cxnSp>
        <p:nvCxnSpPr>
          <p:cNvPr id="159" name="Google Shape;159;g39a812c2d83_1_112"/>
          <p:cNvCxnSpPr>
            <a:stCxn id="153" idx="2"/>
            <a:endCxn id="155" idx="0"/>
          </p:cNvCxnSpPr>
          <p:nvPr/>
        </p:nvCxnSpPr>
        <p:spPr>
          <a:xfrm>
            <a:off x="5607381" y="1967914"/>
            <a:ext cx="0" cy="27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g39a812c2d83_1_112"/>
          <p:cNvCxnSpPr>
            <a:stCxn id="156" idx="0"/>
            <a:endCxn id="154" idx="2"/>
          </p:cNvCxnSpPr>
          <p:nvPr/>
        </p:nvCxnSpPr>
        <p:spPr>
          <a:xfrm rot="10800000">
            <a:off x="8517252" y="1967929"/>
            <a:ext cx="0" cy="2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g39a812c2d83_1_112"/>
          <p:cNvCxnSpPr/>
          <p:nvPr/>
        </p:nvCxnSpPr>
        <p:spPr>
          <a:xfrm flipH="1">
            <a:off x="3190550" y="3508618"/>
            <a:ext cx="2079900" cy="3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2" name="Google Shape;162;g39a812c2d83_1_112"/>
          <p:cNvSpPr txBox="1"/>
          <p:nvPr/>
        </p:nvSpPr>
        <p:spPr>
          <a:xfrm>
            <a:off x="3160407" y="3054845"/>
            <a:ext cx="21909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getSubscriptionTier()</a:t>
            </a:r>
            <a:endParaRPr/>
          </a:p>
        </p:txBody>
      </p:sp>
      <p:cxnSp>
        <p:nvCxnSpPr>
          <p:cNvPr id="163" name="Google Shape;163;g39a812c2d83_1_112"/>
          <p:cNvCxnSpPr/>
          <p:nvPr/>
        </p:nvCxnSpPr>
        <p:spPr>
          <a:xfrm flipH="1" rot="10800000">
            <a:off x="5772761" y="3785604"/>
            <a:ext cx="2579100" cy="2370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4" name="Google Shape;164;g39a812c2d83_1_112"/>
          <p:cNvSpPr txBox="1"/>
          <p:nvPr/>
        </p:nvSpPr>
        <p:spPr>
          <a:xfrm>
            <a:off x="6497006" y="3481629"/>
            <a:ext cx="10206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record()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2026-04-11T03:57:48Z</dcterms:created>
  <dc:creator>PptxGenJS</dc:creator>
</cp:coreProperties>
</file>