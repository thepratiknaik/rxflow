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36576"/>
            <a:ext cx="1197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RxFlow — Sprint 2 UML Class Diagram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91440" y="512064"/>
            <a:ext cx="1691640" cy="94091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12064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512064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PharmacyStatus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91440" y="717804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4066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 int «PK»</a:t>
            </a:r>
            <a:endParaRPr lang="en-US" sz="590" dirty="0"/>
          </a:p>
        </p:txBody>
      </p:sp>
      <p:sp>
        <p:nvSpPr>
          <p:cNvPr id="8" name="Text 6"/>
          <p:cNvSpPr/>
          <p:nvPr/>
        </p:nvSpPr>
        <p:spPr>
          <a:xfrm>
            <a:off x="137160" y="86685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role_name : varchar</a:t>
            </a:r>
            <a:endParaRPr lang="en-US" sz="590" dirty="0"/>
          </a:p>
        </p:txBody>
      </p:sp>
      <p:sp>
        <p:nvSpPr>
          <p:cNvPr id="9" name="Text 7"/>
          <p:cNvSpPr/>
          <p:nvPr/>
        </p:nvSpPr>
        <p:spPr>
          <a:xfrm>
            <a:off x="137160" y="9930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: text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91440" y="1148486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17134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+getStatusList()</a:t>
            </a:r>
            <a:endParaRPr lang="en-US" sz="590" dirty="0"/>
          </a:p>
        </p:txBody>
      </p:sp>
      <p:sp>
        <p:nvSpPr>
          <p:cNvPr id="12" name="Text 10"/>
          <p:cNvSpPr/>
          <p:nvPr/>
        </p:nvSpPr>
        <p:spPr>
          <a:xfrm>
            <a:off x="137160" y="129753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+getById(id)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91440" y="2539289"/>
            <a:ext cx="1691640" cy="1698041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" y="2539289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" y="2539289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1440" y="2745029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" y="2767889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pharmacy_id : int «PK»</a:t>
            </a:r>
            <a:endParaRPr lang="en-US" sz="590" dirty="0"/>
          </a:p>
        </p:txBody>
      </p:sp>
      <p:sp>
        <p:nvSpPr>
          <p:cNvPr id="18" name="Text 16"/>
          <p:cNvSpPr/>
          <p:nvPr/>
        </p:nvSpPr>
        <p:spPr>
          <a:xfrm>
            <a:off x="137160" y="289407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status_id : int «FK»</a:t>
            </a:r>
            <a:endParaRPr lang="en-US" sz="590" dirty="0"/>
          </a:p>
        </p:txBody>
      </p:sp>
      <p:sp>
        <p:nvSpPr>
          <p:cNvPr id="19" name="Text 17"/>
          <p:cNvSpPr/>
          <p:nvPr/>
        </p:nvSpPr>
        <p:spPr>
          <a:xfrm>
            <a:off x="137160" y="3020263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varchar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137160" y="314645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license_number : varchar</a:t>
            </a:r>
            <a:endParaRPr lang="en-US" sz="590" dirty="0"/>
          </a:p>
        </p:txBody>
      </p:sp>
      <p:sp>
        <p:nvSpPr>
          <p:cNvPr id="21" name="Text 19"/>
          <p:cNvSpPr/>
          <p:nvPr/>
        </p:nvSpPr>
        <p:spPr>
          <a:xfrm>
            <a:off x="137160" y="32726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subscription_tier : varchar</a:t>
            </a:r>
            <a:endParaRPr lang="en-US" sz="590" dirty="0"/>
          </a:p>
        </p:txBody>
      </p:sp>
      <p:sp>
        <p:nvSpPr>
          <p:cNvPr id="22" name="Text 20"/>
          <p:cNvSpPr/>
          <p:nvPr/>
        </p:nvSpPr>
        <p:spPr>
          <a:xfrm>
            <a:off x="137160" y="3398825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137160" y="352501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: timestamp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91440" y="3680460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370332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+createPharmacy(...)</a:t>
            </a:r>
            <a:endParaRPr lang="en-US" sz="590" dirty="0"/>
          </a:p>
        </p:txBody>
      </p:sp>
      <p:sp>
        <p:nvSpPr>
          <p:cNvPr id="26" name="Text 24"/>
          <p:cNvSpPr/>
          <p:nvPr/>
        </p:nvSpPr>
        <p:spPr>
          <a:xfrm>
            <a:off x="137160" y="3829507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updatePharmacy(pharmacy_id, fields)</a:t>
            </a:r>
            <a:endParaRPr lang="en-US" sz="590" dirty="0"/>
          </a:p>
        </p:txBody>
      </p:sp>
      <p:sp>
        <p:nvSpPr>
          <p:cNvPr id="27" name="Text 25"/>
          <p:cNvSpPr/>
          <p:nvPr/>
        </p:nvSpPr>
        <p:spPr>
          <a:xfrm>
            <a:off x="137160" y="395569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+updateSubscriptionTier(pharmacy_id, tier)</a:t>
            </a:r>
            <a:endParaRPr lang="en-US" sz="590" dirty="0"/>
          </a:p>
        </p:txBody>
      </p:sp>
      <p:sp>
        <p:nvSpPr>
          <p:cNvPr id="28" name="Text 26"/>
          <p:cNvSpPr/>
          <p:nvPr/>
        </p:nvSpPr>
        <p:spPr>
          <a:xfrm>
            <a:off x="137160" y="408188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updateStatus(pharmacy_id, status_id)</a:t>
            </a:r>
            <a:endParaRPr lang="en-US" sz="590" dirty="0"/>
          </a:p>
        </p:txBody>
      </p:sp>
      <p:sp>
        <p:nvSpPr>
          <p:cNvPr id="29" name="Shape 27"/>
          <p:cNvSpPr/>
          <p:nvPr/>
        </p:nvSpPr>
        <p:spPr>
          <a:xfrm>
            <a:off x="2011680" y="512064"/>
            <a:ext cx="1691640" cy="1067105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512064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512064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011680" y="717804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74066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 int «PK»</a:t>
            </a:r>
            <a:endParaRPr lang="en-US" sz="590" dirty="0"/>
          </a:p>
        </p:txBody>
      </p:sp>
      <p:sp>
        <p:nvSpPr>
          <p:cNvPr id="34" name="Text 32"/>
          <p:cNvSpPr/>
          <p:nvPr/>
        </p:nvSpPr>
        <p:spPr>
          <a:xfrm>
            <a:off x="2057400" y="86685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role_name : varchar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2057400" y="9930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: text</a:t>
            </a:r>
            <a:endParaRPr lang="en-US" sz="590" dirty="0"/>
          </a:p>
        </p:txBody>
      </p:sp>
      <p:sp>
        <p:nvSpPr>
          <p:cNvPr id="36" name="Shape 34"/>
          <p:cNvSpPr/>
          <p:nvPr/>
        </p:nvSpPr>
        <p:spPr>
          <a:xfrm>
            <a:off x="2011680" y="1148486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117134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+createRole(role_name, description)</a:t>
            </a:r>
            <a:endParaRPr lang="en-US" sz="590" dirty="0"/>
          </a:p>
        </p:txBody>
      </p:sp>
      <p:sp>
        <p:nvSpPr>
          <p:cNvPr id="38" name="Text 36"/>
          <p:cNvSpPr/>
          <p:nvPr/>
        </p:nvSpPr>
        <p:spPr>
          <a:xfrm>
            <a:off x="2057400" y="129753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updateRole(id, role_name, desc)</a:t>
            </a:r>
            <a:endParaRPr lang="en-US" sz="590" dirty="0"/>
          </a:p>
        </p:txBody>
      </p:sp>
      <p:sp>
        <p:nvSpPr>
          <p:cNvPr id="39" name="Text 37"/>
          <p:cNvSpPr/>
          <p:nvPr/>
        </p:nvSpPr>
        <p:spPr>
          <a:xfrm>
            <a:off x="2057400" y="142372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+listRoles()</a:t>
            </a:r>
            <a:endParaRPr lang="en-US" sz="590" dirty="0"/>
          </a:p>
        </p:txBody>
      </p:sp>
      <p:sp>
        <p:nvSpPr>
          <p:cNvPr id="40" name="Shape 38"/>
          <p:cNvSpPr/>
          <p:nvPr/>
        </p:nvSpPr>
        <p:spPr>
          <a:xfrm>
            <a:off x="2011680" y="2539289"/>
            <a:ext cx="1691640" cy="182422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11680" y="2539289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2539289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011680" y="2745029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2767889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: int «PK»</a:t>
            </a:r>
            <a:endParaRPr lang="en-US" sz="590" dirty="0"/>
          </a:p>
        </p:txBody>
      </p:sp>
      <p:sp>
        <p:nvSpPr>
          <p:cNvPr id="45" name="Text 43"/>
          <p:cNvSpPr/>
          <p:nvPr/>
        </p:nvSpPr>
        <p:spPr>
          <a:xfrm>
            <a:off x="2057400" y="289407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pharmacy_id : int «FK»</a:t>
            </a:r>
            <a:endParaRPr lang="en-US" sz="590" dirty="0"/>
          </a:p>
        </p:txBody>
      </p:sp>
      <p:sp>
        <p:nvSpPr>
          <p:cNvPr id="46" name="Text 44"/>
          <p:cNvSpPr/>
          <p:nvPr/>
        </p:nvSpPr>
        <p:spPr>
          <a:xfrm>
            <a:off x="2057400" y="3020263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role_id : int «FK»</a:t>
            </a:r>
            <a:endParaRPr lang="en-US" sz="590" dirty="0"/>
          </a:p>
        </p:txBody>
      </p:sp>
      <p:sp>
        <p:nvSpPr>
          <p:cNvPr id="47" name="Text 45"/>
          <p:cNvSpPr/>
          <p:nvPr/>
        </p:nvSpPr>
        <p:spPr>
          <a:xfrm>
            <a:off x="2057400" y="314645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: varchar</a:t>
            </a:r>
            <a:endParaRPr lang="en-US" sz="590" dirty="0"/>
          </a:p>
        </p:txBody>
      </p:sp>
      <p:sp>
        <p:nvSpPr>
          <p:cNvPr id="48" name="Text 46"/>
          <p:cNvSpPr/>
          <p:nvPr/>
        </p:nvSpPr>
        <p:spPr>
          <a:xfrm>
            <a:off x="2057400" y="32726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 : varchar</a:t>
            </a:r>
            <a:endParaRPr lang="en-US" sz="590" dirty="0"/>
          </a:p>
        </p:txBody>
      </p:sp>
      <p:sp>
        <p:nvSpPr>
          <p:cNvPr id="49" name="Text 47"/>
          <p:cNvSpPr/>
          <p:nvPr/>
        </p:nvSpPr>
        <p:spPr>
          <a:xfrm>
            <a:off x="2057400" y="3398825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 : boolean</a:t>
            </a:r>
            <a:endParaRPr lang="en-US" sz="590" dirty="0"/>
          </a:p>
        </p:txBody>
      </p:sp>
      <p:sp>
        <p:nvSpPr>
          <p:cNvPr id="50" name="Text 48"/>
          <p:cNvSpPr/>
          <p:nvPr/>
        </p:nvSpPr>
        <p:spPr>
          <a:xfrm>
            <a:off x="2057400" y="352501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590" dirty="0"/>
          </a:p>
        </p:txBody>
      </p:sp>
      <p:sp>
        <p:nvSpPr>
          <p:cNvPr id="51" name="Text 49"/>
          <p:cNvSpPr/>
          <p:nvPr/>
        </p:nvSpPr>
        <p:spPr>
          <a:xfrm>
            <a:off x="2057400" y="3651199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: timestamp</a:t>
            </a:r>
            <a:endParaRPr lang="en-US" sz="590" dirty="0"/>
          </a:p>
        </p:txBody>
      </p:sp>
      <p:sp>
        <p:nvSpPr>
          <p:cNvPr id="52" name="Shape 50"/>
          <p:cNvSpPr/>
          <p:nvPr/>
        </p:nvSpPr>
        <p:spPr>
          <a:xfrm>
            <a:off x="2011680" y="3806647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57400" y="3829507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+createUser(...)</a:t>
            </a:r>
            <a:endParaRPr lang="en-US" sz="590" dirty="0"/>
          </a:p>
        </p:txBody>
      </p:sp>
      <p:sp>
        <p:nvSpPr>
          <p:cNvPr id="54" name="Text 52"/>
          <p:cNvSpPr/>
          <p:nvPr/>
        </p:nvSpPr>
        <p:spPr>
          <a:xfrm>
            <a:off x="2057400" y="395569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authenticate(email, password)</a:t>
            </a:r>
            <a:endParaRPr lang="en-US" sz="590" dirty="0"/>
          </a:p>
        </p:txBody>
      </p:sp>
      <p:sp>
        <p:nvSpPr>
          <p:cNvPr id="55" name="Text 53"/>
          <p:cNvSpPr/>
          <p:nvPr/>
        </p:nvSpPr>
        <p:spPr>
          <a:xfrm>
            <a:off x="2057400" y="408188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+updateProfile(user_id, fields)</a:t>
            </a:r>
            <a:endParaRPr lang="en-US" sz="590" dirty="0"/>
          </a:p>
        </p:txBody>
      </p:sp>
      <p:sp>
        <p:nvSpPr>
          <p:cNvPr id="56" name="Text 54"/>
          <p:cNvSpPr/>
          <p:nvPr/>
        </p:nvSpPr>
        <p:spPr>
          <a:xfrm>
            <a:off x="2057400" y="4208069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+deactivateUser(user_id)</a:t>
            </a:r>
            <a:endParaRPr lang="en-US" sz="590" dirty="0"/>
          </a:p>
        </p:txBody>
      </p:sp>
      <p:sp>
        <p:nvSpPr>
          <p:cNvPr id="57" name="Shape 55"/>
          <p:cNvSpPr/>
          <p:nvPr/>
        </p:nvSpPr>
        <p:spPr>
          <a:xfrm>
            <a:off x="4069080" y="512064"/>
            <a:ext cx="1691640" cy="1698041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69080" y="512064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69080" y="512064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069080" y="717804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0" y="74066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: int «PK»</a:t>
            </a:r>
            <a:endParaRPr lang="en-US" sz="590" dirty="0"/>
          </a:p>
        </p:txBody>
      </p:sp>
      <p:sp>
        <p:nvSpPr>
          <p:cNvPr id="62" name="Text 60"/>
          <p:cNvSpPr/>
          <p:nvPr/>
        </p:nvSpPr>
        <p:spPr>
          <a:xfrm>
            <a:off x="4114800" y="86685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pharmacy_id : int «FK»</a:t>
            </a:r>
            <a:endParaRPr lang="en-US" sz="590" dirty="0"/>
          </a:p>
        </p:txBody>
      </p:sp>
      <p:sp>
        <p:nvSpPr>
          <p:cNvPr id="63" name="Text 61"/>
          <p:cNvSpPr/>
          <p:nvPr/>
        </p:nvSpPr>
        <p:spPr>
          <a:xfrm>
            <a:off x="4114800" y="9930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 : varchar</a:t>
            </a:r>
            <a:endParaRPr lang="en-US" sz="590" dirty="0"/>
          </a:p>
        </p:txBody>
      </p:sp>
      <p:sp>
        <p:nvSpPr>
          <p:cNvPr id="64" name="Text 62"/>
          <p:cNvSpPr/>
          <p:nvPr/>
        </p:nvSpPr>
        <p:spPr>
          <a:xfrm>
            <a:off x="4114800" y="111922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 : varchar</a:t>
            </a:r>
            <a:endParaRPr lang="en-US" sz="590" dirty="0"/>
          </a:p>
        </p:txBody>
      </p:sp>
      <p:sp>
        <p:nvSpPr>
          <p:cNvPr id="65" name="Text 63"/>
          <p:cNvSpPr/>
          <p:nvPr/>
        </p:nvSpPr>
        <p:spPr>
          <a:xfrm>
            <a:off x="4114800" y="1245413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: date</a:t>
            </a:r>
            <a:endParaRPr lang="en-US" sz="590" dirty="0"/>
          </a:p>
        </p:txBody>
      </p:sp>
      <p:sp>
        <p:nvSpPr>
          <p:cNvPr id="66" name="Text 64"/>
          <p:cNvSpPr/>
          <p:nvPr/>
        </p:nvSpPr>
        <p:spPr>
          <a:xfrm>
            <a:off x="4114800" y="137160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590" dirty="0"/>
          </a:p>
        </p:txBody>
      </p:sp>
      <p:sp>
        <p:nvSpPr>
          <p:cNvPr id="67" name="Text 65"/>
          <p:cNvSpPr/>
          <p:nvPr/>
        </p:nvSpPr>
        <p:spPr>
          <a:xfrm>
            <a:off x="4114800" y="1497787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: timestamp</a:t>
            </a:r>
            <a:endParaRPr lang="en-US" sz="590" dirty="0"/>
          </a:p>
        </p:txBody>
      </p:sp>
      <p:sp>
        <p:nvSpPr>
          <p:cNvPr id="68" name="Shape 66"/>
          <p:cNvSpPr/>
          <p:nvPr/>
        </p:nvSpPr>
        <p:spPr>
          <a:xfrm>
            <a:off x="4069080" y="1653235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0" y="1676095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+createPatient(...)</a:t>
            </a:r>
            <a:endParaRPr lang="en-US" sz="590" dirty="0"/>
          </a:p>
        </p:txBody>
      </p:sp>
      <p:sp>
        <p:nvSpPr>
          <p:cNvPr id="70" name="Text 68"/>
          <p:cNvSpPr/>
          <p:nvPr/>
        </p:nvSpPr>
        <p:spPr>
          <a:xfrm>
            <a:off x="4114800" y="180228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updatePatient(patient_id, fields)</a:t>
            </a:r>
            <a:endParaRPr lang="en-US" sz="590" dirty="0"/>
          </a:p>
        </p:txBody>
      </p:sp>
      <p:sp>
        <p:nvSpPr>
          <p:cNvPr id="71" name="Text 69"/>
          <p:cNvSpPr/>
          <p:nvPr/>
        </p:nvSpPr>
        <p:spPr>
          <a:xfrm>
            <a:off x="4114800" y="192847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+searchPatients(pharmacy_id, query)</a:t>
            </a:r>
            <a:endParaRPr lang="en-US" sz="590" dirty="0"/>
          </a:p>
        </p:txBody>
      </p:sp>
      <p:sp>
        <p:nvSpPr>
          <p:cNvPr id="72" name="Text 70"/>
          <p:cNvSpPr/>
          <p:nvPr/>
        </p:nvSpPr>
        <p:spPr>
          <a:xfrm>
            <a:off x="4114800" y="2054657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getPatientById(patient_id)</a:t>
            </a:r>
            <a:endParaRPr lang="en-US" sz="590" dirty="0"/>
          </a:p>
        </p:txBody>
      </p:sp>
      <p:sp>
        <p:nvSpPr>
          <p:cNvPr id="73" name="Shape 71"/>
          <p:cNvSpPr/>
          <p:nvPr/>
        </p:nvSpPr>
        <p:spPr>
          <a:xfrm>
            <a:off x="6080760" y="512064"/>
            <a:ext cx="1691640" cy="1445666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512064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80760" y="512064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080760" y="717804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26480" y="74066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insurance_id : int «PK»</a:t>
            </a:r>
            <a:endParaRPr lang="en-US" sz="590" dirty="0"/>
          </a:p>
        </p:txBody>
      </p:sp>
      <p:sp>
        <p:nvSpPr>
          <p:cNvPr id="78" name="Text 76"/>
          <p:cNvSpPr/>
          <p:nvPr/>
        </p:nvSpPr>
        <p:spPr>
          <a:xfrm>
            <a:off x="6126480" y="86685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: int «FK»</a:t>
            </a:r>
            <a:endParaRPr lang="en-US" sz="590" dirty="0"/>
          </a:p>
        </p:txBody>
      </p:sp>
      <p:sp>
        <p:nvSpPr>
          <p:cNvPr id="79" name="Text 77"/>
          <p:cNvSpPr/>
          <p:nvPr/>
        </p:nvSpPr>
        <p:spPr>
          <a:xfrm>
            <a:off x="6126480" y="9930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provider_name : varchar</a:t>
            </a:r>
            <a:endParaRPr lang="en-US" sz="590" dirty="0"/>
          </a:p>
        </p:txBody>
      </p:sp>
      <p:sp>
        <p:nvSpPr>
          <p:cNvPr id="80" name="Text 78"/>
          <p:cNvSpPr/>
          <p:nvPr/>
        </p:nvSpPr>
        <p:spPr>
          <a:xfrm>
            <a:off x="6126480" y="111922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: varchar</a:t>
            </a:r>
            <a:endParaRPr lang="en-US" sz="590" dirty="0"/>
          </a:p>
        </p:txBody>
      </p:sp>
      <p:sp>
        <p:nvSpPr>
          <p:cNvPr id="81" name="Text 79"/>
          <p:cNvSpPr/>
          <p:nvPr/>
        </p:nvSpPr>
        <p:spPr>
          <a:xfrm>
            <a:off x="6126480" y="1245413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bin_number : varchar</a:t>
            </a:r>
            <a:endParaRPr lang="en-US" sz="590" dirty="0"/>
          </a:p>
        </p:txBody>
      </p:sp>
      <p:sp>
        <p:nvSpPr>
          <p:cNvPr id="82" name="Text 80"/>
          <p:cNvSpPr/>
          <p:nvPr/>
        </p:nvSpPr>
        <p:spPr>
          <a:xfrm>
            <a:off x="6126480" y="137160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pcn_number : varchar</a:t>
            </a:r>
            <a:endParaRPr lang="en-US" sz="590" dirty="0"/>
          </a:p>
        </p:txBody>
      </p:sp>
      <p:sp>
        <p:nvSpPr>
          <p:cNvPr id="83" name="Shape 81"/>
          <p:cNvSpPr/>
          <p:nvPr/>
        </p:nvSpPr>
        <p:spPr>
          <a:xfrm>
            <a:off x="6080760" y="1527048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26480" y="154990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+addInsurance(patient_id, ...)</a:t>
            </a:r>
            <a:endParaRPr lang="en-US" sz="590" dirty="0"/>
          </a:p>
        </p:txBody>
      </p:sp>
      <p:sp>
        <p:nvSpPr>
          <p:cNvPr id="85" name="Text 83"/>
          <p:cNvSpPr/>
          <p:nvPr/>
        </p:nvSpPr>
        <p:spPr>
          <a:xfrm>
            <a:off x="6126480" y="1676095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updateInsurance(insurance_id, fields)</a:t>
            </a:r>
            <a:endParaRPr lang="en-US" sz="590" dirty="0"/>
          </a:p>
        </p:txBody>
      </p:sp>
      <p:sp>
        <p:nvSpPr>
          <p:cNvPr id="86" name="Text 84"/>
          <p:cNvSpPr/>
          <p:nvPr/>
        </p:nvSpPr>
        <p:spPr>
          <a:xfrm>
            <a:off x="6126480" y="180228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+getInsuranceByPatient(patient_id)</a:t>
            </a:r>
            <a:endParaRPr lang="en-US" sz="590" dirty="0"/>
          </a:p>
        </p:txBody>
      </p:sp>
      <p:sp>
        <p:nvSpPr>
          <p:cNvPr id="87" name="Shape 85"/>
          <p:cNvSpPr/>
          <p:nvPr/>
        </p:nvSpPr>
        <p:spPr>
          <a:xfrm>
            <a:off x="6080760" y="2539289"/>
            <a:ext cx="1691640" cy="1445666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80760" y="2539289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80760" y="2539289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6080760" y="2745029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2767889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prescriber_id : int «PK»</a:t>
            </a:r>
            <a:endParaRPr lang="en-US" sz="590" dirty="0"/>
          </a:p>
        </p:txBody>
      </p:sp>
      <p:sp>
        <p:nvSpPr>
          <p:cNvPr id="92" name="Text 90"/>
          <p:cNvSpPr/>
          <p:nvPr/>
        </p:nvSpPr>
        <p:spPr>
          <a:xfrm>
            <a:off x="6126480" y="289407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npi_number : varchar «Unique»</a:t>
            </a:r>
            <a:endParaRPr lang="en-US" sz="590" dirty="0"/>
          </a:p>
        </p:txBody>
      </p:sp>
      <p:sp>
        <p:nvSpPr>
          <p:cNvPr id="93" name="Text 91"/>
          <p:cNvSpPr/>
          <p:nvPr/>
        </p:nvSpPr>
        <p:spPr>
          <a:xfrm>
            <a:off x="6126480" y="3020263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 : varchar</a:t>
            </a:r>
            <a:endParaRPr lang="en-US" sz="590" dirty="0"/>
          </a:p>
        </p:txBody>
      </p:sp>
      <p:sp>
        <p:nvSpPr>
          <p:cNvPr id="94" name="Text 92"/>
          <p:cNvSpPr/>
          <p:nvPr/>
        </p:nvSpPr>
        <p:spPr>
          <a:xfrm>
            <a:off x="6126480" y="314645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 : varchar</a:t>
            </a:r>
            <a:endParaRPr lang="en-US" sz="590" dirty="0"/>
          </a:p>
        </p:txBody>
      </p:sp>
      <p:sp>
        <p:nvSpPr>
          <p:cNvPr id="95" name="Text 93"/>
          <p:cNvSpPr/>
          <p:nvPr/>
        </p:nvSpPr>
        <p:spPr>
          <a:xfrm>
            <a:off x="6126480" y="327263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contact_details : text</a:t>
            </a:r>
            <a:endParaRPr lang="en-US" sz="590" dirty="0"/>
          </a:p>
        </p:txBody>
      </p:sp>
      <p:sp>
        <p:nvSpPr>
          <p:cNvPr id="96" name="Text 94"/>
          <p:cNvSpPr/>
          <p:nvPr/>
        </p:nvSpPr>
        <p:spPr>
          <a:xfrm>
            <a:off x="6126480" y="3398825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590" dirty="0"/>
          </a:p>
        </p:txBody>
      </p:sp>
      <p:sp>
        <p:nvSpPr>
          <p:cNvPr id="97" name="Shape 95"/>
          <p:cNvSpPr/>
          <p:nvPr/>
        </p:nvSpPr>
        <p:spPr>
          <a:xfrm>
            <a:off x="6080760" y="3554273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26480" y="3577133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+createPrescriber(...)</a:t>
            </a:r>
            <a:endParaRPr lang="en-US" sz="590" dirty="0"/>
          </a:p>
        </p:txBody>
      </p:sp>
      <p:sp>
        <p:nvSpPr>
          <p:cNvPr id="99" name="Text 97"/>
          <p:cNvSpPr/>
          <p:nvPr/>
        </p:nvSpPr>
        <p:spPr>
          <a:xfrm>
            <a:off x="6126480" y="370332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validateNPIFormat(npi_number)</a:t>
            </a:r>
            <a:endParaRPr lang="en-US" sz="590" dirty="0"/>
          </a:p>
        </p:txBody>
      </p:sp>
      <p:sp>
        <p:nvSpPr>
          <p:cNvPr id="100" name="Text 98"/>
          <p:cNvSpPr/>
          <p:nvPr/>
        </p:nvSpPr>
        <p:spPr>
          <a:xfrm>
            <a:off x="6126480" y="3829507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+getPrescriberByNPI(npi_number)</a:t>
            </a:r>
            <a:endParaRPr lang="en-US" sz="590" dirty="0"/>
          </a:p>
        </p:txBody>
      </p:sp>
      <p:sp>
        <p:nvSpPr>
          <p:cNvPr id="101" name="Shape 99"/>
          <p:cNvSpPr/>
          <p:nvPr/>
        </p:nvSpPr>
        <p:spPr>
          <a:xfrm>
            <a:off x="8046720" y="512064"/>
            <a:ext cx="1645920" cy="94091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46720" y="512064"/>
            <a:ext cx="164592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46720" y="512064"/>
            <a:ext cx="164592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PrescriptionStatus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8046720" y="717804"/>
            <a:ext cx="164592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092440" y="740664"/>
            <a:ext cx="15819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 int «PK»</a:t>
            </a:r>
            <a:endParaRPr lang="en-US" sz="590" dirty="0"/>
          </a:p>
        </p:txBody>
      </p:sp>
      <p:sp>
        <p:nvSpPr>
          <p:cNvPr id="106" name="Text 104"/>
          <p:cNvSpPr/>
          <p:nvPr/>
        </p:nvSpPr>
        <p:spPr>
          <a:xfrm>
            <a:off x="8092440" y="866851"/>
            <a:ext cx="15819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varchar</a:t>
            </a:r>
            <a:endParaRPr lang="en-US" sz="590" dirty="0"/>
          </a:p>
        </p:txBody>
      </p:sp>
      <p:sp>
        <p:nvSpPr>
          <p:cNvPr id="107" name="Text 105"/>
          <p:cNvSpPr/>
          <p:nvPr/>
        </p:nvSpPr>
        <p:spPr>
          <a:xfrm>
            <a:off x="8092440" y="993038"/>
            <a:ext cx="15819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: text</a:t>
            </a:r>
            <a:endParaRPr lang="en-US" sz="590" dirty="0"/>
          </a:p>
        </p:txBody>
      </p:sp>
      <p:sp>
        <p:nvSpPr>
          <p:cNvPr id="108" name="Shape 106"/>
          <p:cNvSpPr/>
          <p:nvPr/>
        </p:nvSpPr>
        <p:spPr>
          <a:xfrm>
            <a:off x="8046720" y="1148486"/>
            <a:ext cx="164592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92440" y="1171346"/>
            <a:ext cx="15819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+getStatusList()</a:t>
            </a:r>
            <a:endParaRPr lang="en-US" sz="590" dirty="0"/>
          </a:p>
        </p:txBody>
      </p:sp>
      <p:sp>
        <p:nvSpPr>
          <p:cNvPr id="110" name="Text 108"/>
          <p:cNvSpPr/>
          <p:nvPr/>
        </p:nvSpPr>
        <p:spPr>
          <a:xfrm>
            <a:off x="8092440" y="1297534"/>
            <a:ext cx="15819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+getStatusById(id)</a:t>
            </a:r>
            <a:endParaRPr lang="en-US" sz="590" dirty="0"/>
          </a:p>
        </p:txBody>
      </p:sp>
      <p:sp>
        <p:nvSpPr>
          <p:cNvPr id="111" name="Shape 109"/>
          <p:cNvSpPr/>
          <p:nvPr/>
        </p:nvSpPr>
        <p:spPr>
          <a:xfrm>
            <a:off x="8046720" y="2539289"/>
            <a:ext cx="2331720" cy="220279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46720" y="2539289"/>
            <a:ext cx="233172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046720" y="2539289"/>
            <a:ext cx="233172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8046720" y="2745029"/>
            <a:ext cx="233172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092440" y="2767889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prescription_id : int «PK»</a:t>
            </a:r>
            <a:endParaRPr lang="en-US" sz="590" dirty="0"/>
          </a:p>
        </p:txBody>
      </p:sp>
      <p:sp>
        <p:nvSpPr>
          <p:cNvPr id="116" name="Text 114"/>
          <p:cNvSpPr/>
          <p:nvPr/>
        </p:nvSpPr>
        <p:spPr>
          <a:xfrm>
            <a:off x="8092440" y="2894076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pharmacy_id : int «FK»</a:t>
            </a:r>
            <a:endParaRPr lang="en-US" sz="590" dirty="0"/>
          </a:p>
        </p:txBody>
      </p:sp>
      <p:sp>
        <p:nvSpPr>
          <p:cNvPr id="117" name="Text 115"/>
          <p:cNvSpPr/>
          <p:nvPr/>
        </p:nvSpPr>
        <p:spPr>
          <a:xfrm>
            <a:off x="8092440" y="3020263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: int «FK»</a:t>
            </a:r>
            <a:endParaRPr lang="en-US" sz="590" dirty="0"/>
          </a:p>
        </p:txBody>
      </p:sp>
      <p:sp>
        <p:nvSpPr>
          <p:cNvPr id="118" name="Text 116"/>
          <p:cNvSpPr/>
          <p:nvPr/>
        </p:nvSpPr>
        <p:spPr>
          <a:xfrm>
            <a:off x="8092440" y="3146450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prescriber_id : int «FK»</a:t>
            </a:r>
            <a:endParaRPr lang="en-US" sz="590" dirty="0"/>
          </a:p>
        </p:txBody>
      </p:sp>
      <p:sp>
        <p:nvSpPr>
          <p:cNvPr id="119" name="Text 117"/>
          <p:cNvSpPr/>
          <p:nvPr/>
        </p:nvSpPr>
        <p:spPr>
          <a:xfrm>
            <a:off x="8092440" y="3272638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drug_id : int «FK»</a:t>
            </a:r>
            <a:endParaRPr lang="en-US" sz="590" dirty="0"/>
          </a:p>
        </p:txBody>
      </p:sp>
      <p:sp>
        <p:nvSpPr>
          <p:cNvPr id="120" name="Text 118"/>
          <p:cNvSpPr/>
          <p:nvPr/>
        </p:nvSpPr>
        <p:spPr>
          <a:xfrm>
            <a:off x="8092440" y="3398825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insurance_id : int «FK»</a:t>
            </a:r>
            <a:endParaRPr lang="en-US" sz="590" dirty="0"/>
          </a:p>
        </p:txBody>
      </p:sp>
      <p:sp>
        <p:nvSpPr>
          <p:cNvPr id="121" name="Text 119"/>
          <p:cNvSpPr/>
          <p:nvPr/>
        </p:nvSpPr>
        <p:spPr>
          <a:xfrm>
            <a:off x="8092440" y="3525012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status_id : int «FK»</a:t>
            </a:r>
            <a:endParaRPr lang="en-US" sz="590" dirty="0"/>
          </a:p>
        </p:txBody>
      </p:sp>
      <p:sp>
        <p:nvSpPr>
          <p:cNvPr id="122" name="Text 120"/>
          <p:cNvSpPr/>
          <p:nvPr/>
        </p:nvSpPr>
        <p:spPr>
          <a:xfrm>
            <a:off x="8092440" y="3651199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entered_by : int «FK» → User</a:t>
            </a:r>
            <a:endParaRPr lang="en-US" sz="590" dirty="0"/>
          </a:p>
        </p:txBody>
      </p:sp>
      <p:sp>
        <p:nvSpPr>
          <p:cNvPr id="123" name="Text 121"/>
          <p:cNvSpPr/>
          <p:nvPr/>
        </p:nvSpPr>
        <p:spPr>
          <a:xfrm>
            <a:off x="8092440" y="3777386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verified_by : int «FK» → User, nullable</a:t>
            </a:r>
            <a:endParaRPr lang="en-US" sz="590" dirty="0"/>
          </a:p>
        </p:txBody>
      </p:sp>
      <p:sp>
        <p:nvSpPr>
          <p:cNvPr id="124" name="Text 122"/>
          <p:cNvSpPr/>
          <p:nvPr/>
        </p:nvSpPr>
        <p:spPr>
          <a:xfrm>
            <a:off x="8092440" y="3903574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: int</a:t>
            </a:r>
            <a:endParaRPr lang="en-US" sz="590" dirty="0"/>
          </a:p>
        </p:txBody>
      </p:sp>
      <p:sp>
        <p:nvSpPr>
          <p:cNvPr id="125" name="Text 123"/>
          <p:cNvSpPr/>
          <p:nvPr/>
        </p:nvSpPr>
        <p:spPr>
          <a:xfrm>
            <a:off x="8092440" y="4029761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590" dirty="0"/>
          </a:p>
        </p:txBody>
      </p:sp>
      <p:sp>
        <p:nvSpPr>
          <p:cNvPr id="126" name="Shape 124"/>
          <p:cNvSpPr/>
          <p:nvPr/>
        </p:nvSpPr>
        <p:spPr>
          <a:xfrm>
            <a:off x="8046720" y="4185209"/>
            <a:ext cx="233172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092440" y="4208069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+createPrescription(...)</a:t>
            </a:r>
            <a:endParaRPr lang="en-US" sz="590" dirty="0"/>
          </a:p>
        </p:txBody>
      </p:sp>
      <p:sp>
        <p:nvSpPr>
          <p:cNvPr id="128" name="Text 126"/>
          <p:cNvSpPr/>
          <p:nvPr/>
        </p:nvSpPr>
        <p:spPr>
          <a:xfrm>
            <a:off x="8092440" y="4334256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updatePrescriptionDetails(id, fields)</a:t>
            </a:r>
            <a:endParaRPr lang="en-US" sz="590" dirty="0"/>
          </a:p>
        </p:txBody>
      </p:sp>
      <p:sp>
        <p:nvSpPr>
          <p:cNvPr id="129" name="Text 127"/>
          <p:cNvSpPr/>
          <p:nvPr/>
        </p:nvSpPr>
        <p:spPr>
          <a:xfrm>
            <a:off x="8092440" y="4460443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+reviewAndApprove(id, verified_by, status_id)</a:t>
            </a:r>
            <a:endParaRPr lang="en-US" sz="590" dirty="0"/>
          </a:p>
        </p:txBody>
      </p:sp>
      <p:sp>
        <p:nvSpPr>
          <p:cNvPr id="130" name="Text 128"/>
          <p:cNvSpPr/>
          <p:nvPr/>
        </p:nvSpPr>
        <p:spPr>
          <a:xfrm>
            <a:off x="8092440" y="4586630"/>
            <a:ext cx="22677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getByStatus(pharmacy_id, status_id)</a:t>
            </a:r>
            <a:endParaRPr lang="en-US" sz="590" dirty="0"/>
          </a:p>
        </p:txBody>
      </p:sp>
      <p:sp>
        <p:nvSpPr>
          <p:cNvPr id="131" name="Shape 129"/>
          <p:cNvSpPr/>
          <p:nvPr/>
        </p:nvSpPr>
        <p:spPr>
          <a:xfrm>
            <a:off x="10744200" y="2539289"/>
            <a:ext cx="1280160" cy="1445666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744200" y="2539289"/>
            <a:ext cx="128016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744200" y="2539289"/>
            <a:ext cx="128016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780" dirty="0"/>
          </a:p>
        </p:txBody>
      </p:sp>
      <p:sp>
        <p:nvSpPr>
          <p:cNvPr id="134" name="Shape 132"/>
          <p:cNvSpPr/>
          <p:nvPr/>
        </p:nvSpPr>
        <p:spPr>
          <a:xfrm>
            <a:off x="10744200" y="2745029"/>
            <a:ext cx="128016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789920" y="2767889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drug_id : int «PK»</a:t>
            </a:r>
            <a:endParaRPr lang="en-US" sz="590" dirty="0"/>
          </a:p>
        </p:txBody>
      </p:sp>
      <p:sp>
        <p:nvSpPr>
          <p:cNvPr id="136" name="Text 134"/>
          <p:cNvSpPr/>
          <p:nvPr/>
        </p:nvSpPr>
        <p:spPr>
          <a:xfrm>
            <a:off x="10789920" y="2894076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ndc_code : varchar «Unique»</a:t>
            </a:r>
            <a:endParaRPr lang="en-US" sz="590" dirty="0"/>
          </a:p>
        </p:txBody>
      </p:sp>
      <p:sp>
        <p:nvSpPr>
          <p:cNvPr id="137" name="Text 135"/>
          <p:cNvSpPr/>
          <p:nvPr/>
        </p:nvSpPr>
        <p:spPr>
          <a:xfrm>
            <a:off x="10789920" y="3020263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brand_name : varchar</a:t>
            </a:r>
            <a:endParaRPr lang="en-US" sz="590" dirty="0"/>
          </a:p>
        </p:txBody>
      </p:sp>
      <p:sp>
        <p:nvSpPr>
          <p:cNvPr id="138" name="Text 136"/>
          <p:cNvSpPr/>
          <p:nvPr/>
        </p:nvSpPr>
        <p:spPr>
          <a:xfrm>
            <a:off x="10789920" y="3146450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generic_name : varchar</a:t>
            </a:r>
            <a:endParaRPr lang="en-US" sz="590" dirty="0"/>
          </a:p>
        </p:txBody>
      </p:sp>
      <p:sp>
        <p:nvSpPr>
          <p:cNvPr id="139" name="Text 137"/>
          <p:cNvSpPr/>
          <p:nvPr/>
        </p:nvSpPr>
        <p:spPr>
          <a:xfrm>
            <a:off x="10789920" y="3272638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is_controlled : boolean</a:t>
            </a:r>
            <a:endParaRPr lang="en-US" sz="590" dirty="0"/>
          </a:p>
        </p:txBody>
      </p:sp>
      <p:sp>
        <p:nvSpPr>
          <p:cNvPr id="140" name="Text 138"/>
          <p:cNvSpPr/>
          <p:nvPr/>
        </p:nvSpPr>
        <p:spPr>
          <a:xfrm>
            <a:off x="10789920" y="3398825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590" dirty="0"/>
          </a:p>
        </p:txBody>
      </p:sp>
      <p:sp>
        <p:nvSpPr>
          <p:cNvPr id="141" name="Shape 139"/>
          <p:cNvSpPr/>
          <p:nvPr/>
        </p:nvSpPr>
        <p:spPr>
          <a:xfrm>
            <a:off x="10744200" y="3554273"/>
            <a:ext cx="128016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789920" y="3577133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+getDrugByNDC(ndc_code)</a:t>
            </a:r>
            <a:endParaRPr lang="en-US" sz="590" dirty="0"/>
          </a:p>
        </p:txBody>
      </p:sp>
      <p:sp>
        <p:nvSpPr>
          <p:cNvPr id="143" name="Text 141"/>
          <p:cNvSpPr/>
          <p:nvPr/>
        </p:nvSpPr>
        <p:spPr>
          <a:xfrm>
            <a:off x="10789920" y="3703320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+searchDrugs(query)</a:t>
            </a:r>
            <a:endParaRPr lang="en-US" sz="590" dirty="0"/>
          </a:p>
        </p:txBody>
      </p:sp>
      <p:sp>
        <p:nvSpPr>
          <p:cNvPr id="144" name="Text 142"/>
          <p:cNvSpPr/>
          <p:nvPr/>
        </p:nvSpPr>
        <p:spPr>
          <a:xfrm>
            <a:off x="10789920" y="3829507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+isControlled(drug_id)</a:t>
            </a:r>
            <a:endParaRPr lang="en-US" sz="590" dirty="0"/>
          </a:p>
        </p:txBody>
      </p:sp>
      <p:sp>
        <p:nvSpPr>
          <p:cNvPr id="145" name="Shape 143"/>
          <p:cNvSpPr/>
          <p:nvPr/>
        </p:nvSpPr>
        <p:spPr>
          <a:xfrm>
            <a:off x="10744200" y="5071262"/>
            <a:ext cx="1280160" cy="1571854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744200" y="5071262"/>
            <a:ext cx="128016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744200" y="5071262"/>
            <a:ext cx="128016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InventoryLot</a:t>
            </a:r>
            <a:endParaRPr lang="en-US" sz="780" dirty="0"/>
          </a:p>
        </p:txBody>
      </p:sp>
      <p:sp>
        <p:nvSpPr>
          <p:cNvPr id="148" name="Shape 146"/>
          <p:cNvSpPr/>
          <p:nvPr/>
        </p:nvSpPr>
        <p:spPr>
          <a:xfrm>
            <a:off x="10744200" y="5277002"/>
            <a:ext cx="128016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789920" y="5299862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lot_id : int «PK»</a:t>
            </a:r>
            <a:endParaRPr lang="en-US" sz="590" dirty="0"/>
          </a:p>
        </p:txBody>
      </p:sp>
      <p:sp>
        <p:nvSpPr>
          <p:cNvPr id="150" name="Text 148"/>
          <p:cNvSpPr/>
          <p:nvPr/>
        </p:nvSpPr>
        <p:spPr>
          <a:xfrm>
            <a:off x="10789920" y="5426050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pharmacy_id : int «FK»</a:t>
            </a:r>
            <a:endParaRPr lang="en-US" sz="590" dirty="0"/>
          </a:p>
        </p:txBody>
      </p:sp>
      <p:sp>
        <p:nvSpPr>
          <p:cNvPr id="151" name="Text 149"/>
          <p:cNvSpPr/>
          <p:nvPr/>
        </p:nvSpPr>
        <p:spPr>
          <a:xfrm>
            <a:off x="10789920" y="5552237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drug_id : int «FK»</a:t>
            </a:r>
            <a:endParaRPr lang="en-US" sz="590" dirty="0"/>
          </a:p>
        </p:txBody>
      </p:sp>
      <p:sp>
        <p:nvSpPr>
          <p:cNvPr id="152" name="Text 150"/>
          <p:cNvSpPr/>
          <p:nvPr/>
        </p:nvSpPr>
        <p:spPr>
          <a:xfrm>
            <a:off x="10789920" y="5678424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lot_number : varchar</a:t>
            </a:r>
            <a:endParaRPr lang="en-US" sz="590" dirty="0"/>
          </a:p>
        </p:txBody>
      </p:sp>
      <p:sp>
        <p:nvSpPr>
          <p:cNvPr id="153" name="Text 151"/>
          <p:cNvSpPr/>
          <p:nvPr/>
        </p:nvSpPr>
        <p:spPr>
          <a:xfrm>
            <a:off x="10789920" y="5804611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expiration_date : date</a:t>
            </a:r>
            <a:endParaRPr lang="en-US" sz="590" dirty="0"/>
          </a:p>
        </p:txBody>
      </p:sp>
      <p:sp>
        <p:nvSpPr>
          <p:cNvPr id="154" name="Text 152"/>
          <p:cNvSpPr/>
          <p:nvPr/>
        </p:nvSpPr>
        <p:spPr>
          <a:xfrm>
            <a:off x="10789920" y="5930798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quantity_on_hand : int</a:t>
            </a:r>
            <a:endParaRPr lang="en-US" sz="590" dirty="0"/>
          </a:p>
        </p:txBody>
      </p:sp>
      <p:sp>
        <p:nvSpPr>
          <p:cNvPr id="155" name="Shape 153"/>
          <p:cNvSpPr/>
          <p:nvPr/>
        </p:nvSpPr>
        <p:spPr>
          <a:xfrm>
            <a:off x="10744200" y="6086246"/>
            <a:ext cx="128016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789920" y="6109106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+addLot(...)</a:t>
            </a:r>
            <a:endParaRPr lang="en-US" sz="590" dirty="0"/>
          </a:p>
        </p:txBody>
      </p:sp>
      <p:sp>
        <p:nvSpPr>
          <p:cNvPr id="157" name="Text 155"/>
          <p:cNvSpPr/>
          <p:nvPr/>
        </p:nvSpPr>
        <p:spPr>
          <a:xfrm>
            <a:off x="10789920" y="6235294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updateQuantity(lot_id, newQty)</a:t>
            </a:r>
            <a:endParaRPr lang="en-US" sz="590" dirty="0"/>
          </a:p>
        </p:txBody>
      </p:sp>
      <p:sp>
        <p:nvSpPr>
          <p:cNvPr id="158" name="Text 156"/>
          <p:cNvSpPr/>
          <p:nvPr/>
        </p:nvSpPr>
        <p:spPr>
          <a:xfrm>
            <a:off x="10789920" y="6361481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+updateExpiration(lot_id, exp_date)</a:t>
            </a:r>
            <a:endParaRPr lang="en-US" sz="590" dirty="0"/>
          </a:p>
        </p:txBody>
      </p:sp>
      <p:sp>
        <p:nvSpPr>
          <p:cNvPr id="159" name="Text 157"/>
          <p:cNvSpPr/>
          <p:nvPr/>
        </p:nvSpPr>
        <p:spPr>
          <a:xfrm>
            <a:off x="10789920" y="6487668"/>
            <a:ext cx="121615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getLotsByDrug(pharmacy_id, drug_id)</a:t>
            </a:r>
            <a:endParaRPr lang="en-US" sz="590" dirty="0"/>
          </a:p>
        </p:txBody>
      </p:sp>
      <p:sp>
        <p:nvSpPr>
          <p:cNvPr id="160" name="Shape 158"/>
          <p:cNvSpPr/>
          <p:nvPr/>
        </p:nvSpPr>
        <p:spPr>
          <a:xfrm>
            <a:off x="2011680" y="5071262"/>
            <a:ext cx="1691640" cy="1571854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011680" y="5071262"/>
            <a:ext cx="169164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011680" y="5071262"/>
            <a:ext cx="16916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780" dirty="0"/>
          </a:p>
        </p:txBody>
      </p:sp>
      <p:sp>
        <p:nvSpPr>
          <p:cNvPr id="163" name="Shape 161"/>
          <p:cNvSpPr/>
          <p:nvPr/>
        </p:nvSpPr>
        <p:spPr>
          <a:xfrm>
            <a:off x="2011680" y="5277002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057400" y="5299862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 : int «PK»</a:t>
            </a:r>
            <a:endParaRPr lang="en-US" sz="590" dirty="0"/>
          </a:p>
        </p:txBody>
      </p:sp>
      <p:sp>
        <p:nvSpPr>
          <p:cNvPr id="165" name="Text 163"/>
          <p:cNvSpPr/>
          <p:nvPr/>
        </p:nvSpPr>
        <p:spPr>
          <a:xfrm>
            <a:off x="2057400" y="5426050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pharmacy_id : int «FK»</a:t>
            </a:r>
            <a:endParaRPr lang="en-US" sz="590" dirty="0"/>
          </a:p>
        </p:txBody>
      </p:sp>
      <p:sp>
        <p:nvSpPr>
          <p:cNvPr id="166" name="Text 164"/>
          <p:cNvSpPr/>
          <p:nvPr/>
        </p:nvSpPr>
        <p:spPr>
          <a:xfrm>
            <a:off x="2057400" y="5552237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: int «FK»</a:t>
            </a:r>
            <a:endParaRPr lang="en-US" sz="590" dirty="0"/>
          </a:p>
        </p:txBody>
      </p:sp>
      <p:sp>
        <p:nvSpPr>
          <p:cNvPr id="167" name="Text 165"/>
          <p:cNvSpPr/>
          <p:nvPr/>
        </p:nvSpPr>
        <p:spPr>
          <a:xfrm>
            <a:off x="2057400" y="567842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action_type : varchar</a:t>
            </a:r>
            <a:endParaRPr lang="en-US" sz="590" dirty="0"/>
          </a:p>
        </p:txBody>
      </p:sp>
      <p:sp>
        <p:nvSpPr>
          <p:cNvPr id="168" name="Text 166"/>
          <p:cNvSpPr/>
          <p:nvPr/>
        </p:nvSpPr>
        <p:spPr>
          <a:xfrm>
            <a:off x="2057400" y="580461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entity_table : varchar</a:t>
            </a:r>
            <a:endParaRPr lang="en-US" sz="590" dirty="0"/>
          </a:p>
        </p:txBody>
      </p:sp>
      <p:sp>
        <p:nvSpPr>
          <p:cNvPr id="169" name="Text 167"/>
          <p:cNvSpPr/>
          <p:nvPr/>
        </p:nvSpPr>
        <p:spPr>
          <a:xfrm>
            <a:off x="2057400" y="593079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entity_id : int</a:t>
            </a:r>
            <a:endParaRPr lang="en-US" sz="590" dirty="0"/>
          </a:p>
        </p:txBody>
      </p:sp>
      <p:sp>
        <p:nvSpPr>
          <p:cNvPr id="170" name="Text 168"/>
          <p:cNvSpPr/>
          <p:nvPr/>
        </p:nvSpPr>
        <p:spPr>
          <a:xfrm>
            <a:off x="2057400" y="6056986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: jsonb</a:t>
            </a:r>
            <a:endParaRPr lang="en-US" sz="590" dirty="0"/>
          </a:p>
        </p:txBody>
      </p:sp>
      <p:sp>
        <p:nvSpPr>
          <p:cNvPr id="171" name="Shape 169"/>
          <p:cNvSpPr/>
          <p:nvPr/>
        </p:nvSpPr>
        <p:spPr>
          <a:xfrm>
            <a:off x="2011680" y="6212434"/>
            <a:ext cx="1691640" cy="0"/>
          </a:xfrm>
          <a:prstGeom prst="line">
            <a:avLst/>
          </a:prstGeom>
          <a:noFill/>
          <a:ln w="8890">
            <a:solidFill>
              <a:srgbClr val="1B3A6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057400" y="6235294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+record(...)</a:t>
            </a:r>
            <a:endParaRPr lang="en-US" sz="590" dirty="0"/>
          </a:p>
        </p:txBody>
      </p:sp>
      <p:sp>
        <p:nvSpPr>
          <p:cNvPr id="173" name="Text 171"/>
          <p:cNvSpPr/>
          <p:nvPr/>
        </p:nvSpPr>
        <p:spPr>
          <a:xfrm>
            <a:off x="2057400" y="6361481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getLogsByPharmacy(pharmacy_id, filters)</a:t>
            </a:r>
            <a:endParaRPr lang="en-US" sz="590" dirty="0"/>
          </a:p>
        </p:txBody>
      </p:sp>
      <p:sp>
        <p:nvSpPr>
          <p:cNvPr id="174" name="Text 172"/>
          <p:cNvSpPr/>
          <p:nvPr/>
        </p:nvSpPr>
        <p:spPr>
          <a:xfrm>
            <a:off x="2057400" y="6487668"/>
            <a:ext cx="162763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+getLogsByUser(user_id, filters)</a:t>
            </a:r>
            <a:endParaRPr lang="en-US" sz="590" dirty="0"/>
          </a:p>
        </p:txBody>
      </p:sp>
      <p:sp>
        <p:nvSpPr>
          <p:cNvPr id="175" name="Shape 173"/>
          <p:cNvSpPr/>
          <p:nvPr/>
        </p:nvSpPr>
        <p:spPr>
          <a:xfrm>
            <a:off x="937260" y="1452982"/>
            <a:ext cx="914" cy="1086307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00684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37260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90956" y="143012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79" name="Text 177"/>
          <p:cNvSpPr/>
          <p:nvPr/>
        </p:nvSpPr>
        <p:spPr>
          <a:xfrm>
            <a:off x="790956" y="235183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180" name="Shape 178"/>
          <p:cNvSpPr/>
          <p:nvPr/>
        </p:nvSpPr>
        <p:spPr>
          <a:xfrm>
            <a:off x="2857500" y="1579169"/>
            <a:ext cx="914" cy="960120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820924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857500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711196" y="1556309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84" name="Text 182"/>
          <p:cNvSpPr/>
          <p:nvPr/>
        </p:nvSpPr>
        <p:spPr>
          <a:xfrm>
            <a:off x="2711196" y="235183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185" name="Shape 183"/>
          <p:cNvSpPr/>
          <p:nvPr/>
        </p:nvSpPr>
        <p:spPr>
          <a:xfrm>
            <a:off x="1783080" y="3252466"/>
            <a:ext cx="11430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897380" y="3252466"/>
            <a:ext cx="914" cy="52999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897380" y="3305465"/>
            <a:ext cx="11430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938528" y="3268889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938528" y="3305465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719072" y="306501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91" name="Text 189"/>
          <p:cNvSpPr/>
          <p:nvPr/>
        </p:nvSpPr>
        <p:spPr>
          <a:xfrm>
            <a:off x="1783080" y="3118013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1106424" y="2374697"/>
            <a:ext cx="914" cy="16459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06424" y="2374697"/>
            <a:ext cx="3639312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745736" y="2210105"/>
            <a:ext cx="914" cy="16459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709160" y="2210105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745736" y="2210105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877824" y="235183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98" name="Text 196"/>
          <p:cNvSpPr/>
          <p:nvPr/>
        </p:nvSpPr>
        <p:spPr>
          <a:xfrm>
            <a:off x="4681728" y="2187245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199" name="Shape 197"/>
          <p:cNvSpPr/>
          <p:nvPr/>
        </p:nvSpPr>
        <p:spPr>
          <a:xfrm>
            <a:off x="5760720" y="1191280"/>
            <a:ext cx="155448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916168" y="1090331"/>
            <a:ext cx="914" cy="100950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916168" y="1090331"/>
            <a:ext cx="164592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007608" y="1053755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007608" y="1090331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5696712" y="100382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05" name="Text 203"/>
          <p:cNvSpPr/>
          <p:nvPr/>
        </p:nvSpPr>
        <p:spPr>
          <a:xfrm>
            <a:off x="5852160" y="902879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06" name="Shape 204"/>
          <p:cNvSpPr/>
          <p:nvPr/>
        </p:nvSpPr>
        <p:spPr>
          <a:xfrm>
            <a:off x="5084064" y="2210105"/>
            <a:ext cx="914" cy="16459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084064" y="2374697"/>
            <a:ext cx="2825496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909560" y="2374697"/>
            <a:ext cx="914" cy="64920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909560" y="3023903"/>
            <a:ext cx="13716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973568" y="2987327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973568" y="3023903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020056" y="2187245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13" name="Text 211"/>
          <p:cNvSpPr/>
          <p:nvPr/>
        </p:nvSpPr>
        <p:spPr>
          <a:xfrm>
            <a:off x="7818120" y="2836451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14" name="Shape 212"/>
          <p:cNvSpPr/>
          <p:nvPr/>
        </p:nvSpPr>
        <p:spPr>
          <a:xfrm>
            <a:off x="7772400" y="3262122"/>
            <a:ext cx="13716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9560" y="3262122"/>
            <a:ext cx="914" cy="598841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09560" y="3860963"/>
            <a:ext cx="13716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973568" y="3824387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973568" y="3860963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7708392" y="307467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20" name="Text 218"/>
          <p:cNvSpPr/>
          <p:nvPr/>
        </p:nvSpPr>
        <p:spPr>
          <a:xfrm>
            <a:off x="7818120" y="3673511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21" name="Shape 219"/>
          <p:cNvSpPr/>
          <p:nvPr/>
        </p:nvSpPr>
        <p:spPr>
          <a:xfrm>
            <a:off x="10533888" y="3117555"/>
            <a:ext cx="210312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533888" y="3117555"/>
            <a:ext cx="914" cy="302849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378440" y="3420405"/>
            <a:ext cx="155448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378440" y="3383829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378440" y="3420405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0515600" y="2930103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27" name="Text 225"/>
          <p:cNvSpPr/>
          <p:nvPr/>
        </p:nvSpPr>
        <p:spPr>
          <a:xfrm>
            <a:off x="10314432" y="3232953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28" name="Shape 226"/>
          <p:cNvSpPr/>
          <p:nvPr/>
        </p:nvSpPr>
        <p:spPr>
          <a:xfrm>
            <a:off x="6926580" y="1957730"/>
            <a:ext cx="914" cy="41696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926580" y="2374697"/>
            <a:ext cx="98298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909560" y="2374697"/>
            <a:ext cx="914" cy="183871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909560" y="4213409"/>
            <a:ext cx="137160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973568" y="4176833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973568" y="4213409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6862572" y="193487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35" name="Text 233"/>
          <p:cNvSpPr/>
          <p:nvPr/>
        </p:nvSpPr>
        <p:spPr>
          <a:xfrm>
            <a:off x="7818120" y="4153973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36" name="Shape 234"/>
          <p:cNvSpPr/>
          <p:nvPr/>
        </p:nvSpPr>
        <p:spPr>
          <a:xfrm>
            <a:off x="8869680" y="1452982"/>
            <a:ext cx="914" cy="1086307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176004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212580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723376" y="143012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40" name="Text 238"/>
          <p:cNvSpPr/>
          <p:nvPr/>
        </p:nvSpPr>
        <p:spPr>
          <a:xfrm>
            <a:off x="9066276" y="235183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41" name="Shape 239"/>
          <p:cNvSpPr/>
          <p:nvPr/>
        </p:nvSpPr>
        <p:spPr>
          <a:xfrm>
            <a:off x="1275588" y="4237330"/>
            <a:ext cx="914" cy="669341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275588" y="4906670"/>
            <a:ext cx="10044684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320272" y="4906670"/>
            <a:ext cx="914" cy="16459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283696" y="4998110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320272" y="4998110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046988" y="421447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47" name="Text 245"/>
          <p:cNvSpPr/>
          <p:nvPr/>
        </p:nvSpPr>
        <p:spPr>
          <a:xfrm>
            <a:off x="11256264" y="488381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48" name="Shape 246"/>
          <p:cNvSpPr/>
          <p:nvPr/>
        </p:nvSpPr>
        <p:spPr>
          <a:xfrm>
            <a:off x="11384280" y="3984955"/>
            <a:ext cx="914" cy="1086307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347704" y="4998110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384280" y="4998110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11237976" y="3962095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52" name="Text 250"/>
          <p:cNvSpPr/>
          <p:nvPr/>
        </p:nvSpPr>
        <p:spPr>
          <a:xfrm>
            <a:off x="11237976" y="488381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53" name="Shape 251"/>
          <p:cNvSpPr/>
          <p:nvPr/>
        </p:nvSpPr>
        <p:spPr>
          <a:xfrm>
            <a:off x="54864" y="3761878"/>
            <a:ext cx="36576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4864" y="3761878"/>
            <a:ext cx="914" cy="1749503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4864" y="5511381"/>
            <a:ext cx="1956816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938528" y="5474805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938528" y="5511381"/>
            <a:ext cx="73152" cy="3657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-54864" y="357442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59" name="Text 257"/>
          <p:cNvSpPr/>
          <p:nvPr/>
        </p:nvSpPr>
        <p:spPr>
          <a:xfrm>
            <a:off x="1911096" y="5323929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60" name="Shape 258"/>
          <p:cNvSpPr/>
          <p:nvPr/>
        </p:nvSpPr>
        <p:spPr>
          <a:xfrm>
            <a:off x="2857500" y="4363517"/>
            <a:ext cx="914" cy="707746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820924" y="4998110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2857500" y="4998110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2711196" y="434065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64" name="Text 262"/>
          <p:cNvSpPr/>
          <p:nvPr/>
        </p:nvSpPr>
        <p:spPr>
          <a:xfrm>
            <a:off x="2711196" y="488381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600" dirty="0"/>
          </a:p>
        </p:txBody>
      </p:sp>
      <p:sp>
        <p:nvSpPr>
          <p:cNvPr id="265" name="Shape 263"/>
          <p:cNvSpPr/>
          <p:nvPr/>
        </p:nvSpPr>
        <p:spPr>
          <a:xfrm>
            <a:off x="2553005" y="2374697"/>
            <a:ext cx="914" cy="16459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553005" y="2374697"/>
            <a:ext cx="6146597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699602" y="2374697"/>
            <a:ext cx="914" cy="16459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663026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699602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2296973" y="235183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71" name="Text 269"/>
          <p:cNvSpPr/>
          <p:nvPr/>
        </p:nvSpPr>
        <p:spPr>
          <a:xfrm>
            <a:off x="5031943" y="2187245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entered_by (1)</a:t>
            </a:r>
            <a:endParaRPr lang="en-US" sz="580" dirty="0"/>
          </a:p>
        </p:txBody>
      </p:sp>
      <p:sp>
        <p:nvSpPr>
          <p:cNvPr id="272" name="Shape 270"/>
          <p:cNvSpPr/>
          <p:nvPr/>
        </p:nvSpPr>
        <p:spPr>
          <a:xfrm>
            <a:off x="2891333" y="2429561"/>
            <a:ext cx="914" cy="109728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891333" y="2429561"/>
            <a:ext cx="6181344" cy="914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072677" y="2429561"/>
            <a:ext cx="914" cy="109728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036101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072677" y="2466137"/>
            <a:ext cx="36576" cy="73152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2900477" y="2351837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600" dirty="0"/>
          </a:p>
        </p:txBody>
      </p:sp>
      <p:sp>
        <p:nvSpPr>
          <p:cNvPr id="278" name="Text 276"/>
          <p:cNvSpPr/>
          <p:nvPr/>
        </p:nvSpPr>
        <p:spPr>
          <a:xfrm>
            <a:off x="5387645" y="2370125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verified_by (0..1)</a:t>
            </a:r>
            <a:endParaRPr lang="en-US" sz="580" dirty="0"/>
          </a:p>
        </p:txBody>
      </p:sp>
      <p:sp>
        <p:nvSpPr>
          <p:cNvPr id="279" name="Text 277"/>
          <p:cNvSpPr/>
          <p:nvPr/>
        </p:nvSpPr>
        <p:spPr>
          <a:xfrm>
            <a:off x="91440" y="6748272"/>
            <a:ext cx="1197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UML Class Diagram — derived from ERD/Table Specification. Supports Sprint 2 stories: Audit Logs (01.06); Prescriber + Insurance (02.04–02.05); Prescription intake/review/entry (03.01–03.03); Inventory updates/expiration/alerts (04.02, 04.04, 04.05).</a:t>
            </a:r>
            <a:endParaRPr lang="en-US" sz="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2026-04-11T03:57:48Z</dcterms:created>
  <dcterms:modified xsi:type="dcterms:W3CDTF">2026-04-11T03:57:48Z</dcterms:modified>
</cp:coreProperties>
</file>