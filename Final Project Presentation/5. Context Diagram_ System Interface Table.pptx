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316E39-9EB4-40D9-BA17-AE182013BC7F}">
  <a:tblStyle styleId="{87316E39-9EB4-40D9-BA17-AE182013BC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719" autoAdjust="0"/>
  </p:normalViewPr>
  <p:slideViewPr>
    <p:cSldViewPr snapToGrid="0">
      <p:cViewPr varScale="1">
        <p:scale>
          <a:sx n="99" d="100"/>
          <a:sy n="99" d="100"/>
        </p:scale>
        <p:origin x="99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i Yadav" userId="695f1c7790b1b760" providerId="LiveId" clId="{A9D72F97-CD0E-48C8-82D6-7278A3D2B18B}"/>
    <pc:docChg chg="undo custSel modSld">
      <pc:chgData name="Sonali Yadav" userId="695f1c7790b1b760" providerId="LiveId" clId="{A9D72F97-CD0E-48C8-82D6-7278A3D2B18B}" dt="2026-03-03T00:14:43.540" v="3" actId="14734"/>
      <pc:docMkLst>
        <pc:docMk/>
      </pc:docMkLst>
      <pc:sldChg chg="modSp mod">
        <pc:chgData name="Sonali Yadav" userId="695f1c7790b1b760" providerId="LiveId" clId="{A9D72F97-CD0E-48C8-82D6-7278A3D2B18B}" dt="2026-03-03T00:14:43.540" v="3" actId="14734"/>
        <pc:sldMkLst>
          <pc:docMk/>
          <pc:sldMk cId="0" sldId="257"/>
        </pc:sldMkLst>
        <pc:graphicFrameChg chg="modGraphic">
          <ac:chgData name="Sonali Yadav" userId="695f1c7790b1b760" providerId="LiveId" clId="{A9D72F97-CD0E-48C8-82D6-7278A3D2B18B}" dt="2026-03-03T00:14:43.540" v="3" actId="14734"/>
          <ac:graphicFrameMkLst>
            <pc:docMk/>
            <pc:sldMk cId="0" sldId="257"/>
            <ac:graphicFrameMk id="81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5796b60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5796b60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09625" y="0"/>
            <a:ext cx="2784900" cy="8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RxFlow </a:t>
            </a:r>
            <a:endParaRPr sz="20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Context Diagram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278075" y="2622500"/>
            <a:ext cx="1349700" cy="752400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RxFlow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5047475" y="869550"/>
            <a:ext cx="1135800" cy="6747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Payment </a:t>
            </a:r>
            <a:endParaRPr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Gateway</a:t>
            </a:r>
            <a:endParaRPr sz="1200"/>
          </a:p>
        </p:txBody>
      </p:sp>
      <p:sp>
        <p:nvSpPr>
          <p:cNvPr id="57" name="Google Shape;57;p13"/>
          <p:cNvSpPr/>
          <p:nvPr/>
        </p:nvSpPr>
        <p:spPr>
          <a:xfrm>
            <a:off x="6972575" y="1897050"/>
            <a:ext cx="1135800" cy="6747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Drug Information API</a:t>
            </a:r>
            <a:endParaRPr sz="1200"/>
          </a:p>
        </p:txBody>
      </p:sp>
      <p:sp>
        <p:nvSpPr>
          <p:cNvPr id="58" name="Google Shape;58;p13"/>
          <p:cNvSpPr/>
          <p:nvPr/>
        </p:nvSpPr>
        <p:spPr>
          <a:xfrm>
            <a:off x="7113450" y="3955975"/>
            <a:ext cx="1258800" cy="6747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E-prescribing FHIR Server</a:t>
            </a:r>
            <a:endParaRPr sz="1200"/>
          </a:p>
        </p:txBody>
      </p:sp>
      <p:sp>
        <p:nvSpPr>
          <p:cNvPr id="59" name="Google Shape;59;p13"/>
          <p:cNvSpPr txBox="1"/>
          <p:nvPr/>
        </p:nvSpPr>
        <p:spPr>
          <a:xfrm>
            <a:off x="1115132" y="1059604"/>
            <a:ext cx="11358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Pharmacy Admin / Owner</a:t>
            </a:r>
            <a:endParaRPr sz="1200" b="1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51425" y="4273048"/>
            <a:ext cx="11358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</a:rPr>
              <a:t>Pharmacy Staff/ Pharmacist</a:t>
            </a:r>
            <a:endParaRPr sz="1200" b="1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 rot="2114437">
            <a:off x="1778273" y="1984910"/>
            <a:ext cx="2044847" cy="99882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CFE2F3"/>
          </a:solidFill>
          <a:ln w="952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3"/>
          <p:cNvSpPr/>
          <p:nvPr/>
        </p:nvSpPr>
        <p:spPr>
          <a:xfrm rot="-1174318">
            <a:off x="1473728" y="3429351"/>
            <a:ext cx="1850202" cy="93939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CFE2F3"/>
          </a:solidFill>
          <a:ln w="952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3"/>
          <p:cNvSpPr/>
          <p:nvPr/>
        </p:nvSpPr>
        <p:spPr>
          <a:xfrm rot="-2713391" flipH="1">
            <a:off x="4068720" y="2026753"/>
            <a:ext cx="1524817" cy="117097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CFE2F3"/>
          </a:solidFill>
          <a:ln w="952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/>
          <p:nvPr/>
        </p:nvSpPr>
        <p:spPr>
          <a:xfrm rot="-9268228" flipH="1">
            <a:off x="4496044" y="3795213"/>
            <a:ext cx="2724512" cy="119823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CFE2F3"/>
          </a:solidFill>
          <a:ln w="952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3"/>
          <p:cNvSpPr/>
          <p:nvPr/>
        </p:nvSpPr>
        <p:spPr>
          <a:xfrm rot="-1121606">
            <a:off x="4580530" y="2601990"/>
            <a:ext cx="2439279" cy="107296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CFE2F3"/>
          </a:solidFill>
          <a:ln w="9525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4773536" y="1517038"/>
            <a:ext cx="321000" cy="321000"/>
          </a:xfrm>
          <a:prstGeom prst="ellipse">
            <a:avLst/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1</a:t>
            </a:r>
            <a:endParaRPr sz="1100"/>
          </a:p>
        </p:txBody>
      </p:sp>
      <p:sp>
        <p:nvSpPr>
          <p:cNvPr id="67" name="Google Shape;67;p13"/>
          <p:cNvSpPr/>
          <p:nvPr/>
        </p:nvSpPr>
        <p:spPr>
          <a:xfrm>
            <a:off x="6598866" y="1967000"/>
            <a:ext cx="321000" cy="321000"/>
          </a:xfrm>
          <a:prstGeom prst="ellipse">
            <a:avLst/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2</a:t>
            </a:r>
            <a:endParaRPr sz="1000"/>
          </a:p>
        </p:txBody>
      </p:sp>
      <p:sp>
        <p:nvSpPr>
          <p:cNvPr id="68" name="Google Shape;68;p13"/>
          <p:cNvSpPr/>
          <p:nvPr/>
        </p:nvSpPr>
        <p:spPr>
          <a:xfrm>
            <a:off x="6792491" y="3994100"/>
            <a:ext cx="321000" cy="321000"/>
          </a:xfrm>
          <a:prstGeom prst="ellipse">
            <a:avLst/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</a:t>
            </a:r>
            <a:endParaRPr sz="1000"/>
          </a:p>
        </p:txBody>
      </p:sp>
      <p:sp>
        <p:nvSpPr>
          <p:cNvPr id="69" name="Google Shape;69;p13"/>
          <p:cNvSpPr txBox="1"/>
          <p:nvPr/>
        </p:nvSpPr>
        <p:spPr>
          <a:xfrm rot="2083095">
            <a:off x="1264391" y="1780310"/>
            <a:ext cx="2211779" cy="96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>
                <a:solidFill>
                  <a:schemeClr val="dk1"/>
                </a:solidFill>
              </a:rPr>
              <a:t>Manage users and roles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>
                <a:solidFill>
                  <a:schemeClr val="dk1"/>
                </a:solidFill>
              </a:rPr>
              <a:t>View billing / financial reports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>
                <a:solidFill>
                  <a:schemeClr val="dk1"/>
                </a:solidFill>
              </a:rPr>
              <a:t>Manage subscription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 rot="-1213607">
            <a:off x="4915781" y="2572015"/>
            <a:ext cx="2205724" cy="752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Fetch drug information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1" name="Google Shape;71;p13"/>
          <p:cNvSpPr txBox="1"/>
          <p:nvPr/>
        </p:nvSpPr>
        <p:spPr>
          <a:xfrm rot="-1211001">
            <a:off x="1284126" y="3521812"/>
            <a:ext cx="2229400" cy="96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>
                <a:solidFill>
                  <a:schemeClr val="dk1"/>
                </a:solidFill>
              </a:rPr>
              <a:t>Process prescriptions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>
                <a:solidFill>
                  <a:schemeClr val="dk1"/>
                </a:solidFill>
              </a:rPr>
              <a:t>Update inventory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r>
              <a:rPr lang="en" sz="900">
                <a:solidFill>
                  <a:schemeClr val="dk1"/>
                </a:solidFill>
              </a:rPr>
              <a:t>View patient / prescriber records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 rot="1541431">
            <a:off x="4746289" y="3707081"/>
            <a:ext cx="1564670" cy="59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Manage prescriptions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 rot="-2699559">
            <a:off x="4315015" y="1817208"/>
            <a:ext cx="1654418" cy="500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Revenue tracking and payment management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925" y="539725"/>
            <a:ext cx="584200" cy="568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225" y="3614325"/>
            <a:ext cx="584200" cy="56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205800" y="27670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Interface Table</a:t>
            </a:r>
            <a:endParaRPr/>
          </a:p>
        </p:txBody>
      </p:sp>
      <p:graphicFrame>
        <p:nvGraphicFramePr>
          <p:cNvPr id="81" name="Google Shape;81;p14"/>
          <p:cNvGraphicFramePr/>
          <p:nvPr>
            <p:extLst>
              <p:ext uri="{D42A27DB-BD31-4B8C-83A1-F6EECF244321}">
                <p14:modId xmlns:p14="http://schemas.microsoft.com/office/powerpoint/2010/main" val="3059856863"/>
              </p:ext>
            </p:extLst>
          </p:nvPr>
        </p:nvGraphicFramePr>
        <p:xfrm>
          <a:off x="133815" y="797576"/>
          <a:ext cx="8699212" cy="4318787"/>
        </p:xfrm>
        <a:graphic>
          <a:graphicData uri="http://schemas.openxmlformats.org/drawingml/2006/table">
            <a:tbl>
              <a:tblPr>
                <a:noFill/>
                <a:tableStyleId>{87316E39-9EB4-40D9-BA17-AE182013BC7F}</a:tableStyleId>
              </a:tblPr>
              <a:tblGrid>
                <a:gridCol w="8702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5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6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61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7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Interface ID</a:t>
                      </a:r>
                    </a:p>
                  </a:txBody>
                  <a:tcPr anchor="ctr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Description</a:t>
                      </a:r>
                    </a:p>
                  </a:txBody>
                  <a:tcPr anchor="ctr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Source</a:t>
                      </a:r>
                    </a:p>
                  </a:txBody>
                  <a:tcPr anchor="ctr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Target</a:t>
                      </a:r>
                    </a:p>
                  </a:txBody>
                  <a:tcPr anchor="ctr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Frequency</a:t>
                      </a:r>
                    </a:p>
                  </a:txBody>
                  <a:tcPr anchor="ctr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Validation</a:t>
                      </a:r>
                    </a:p>
                  </a:txBody>
                  <a:tcPr anchor="ctr"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IF-01a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Revenue tracking data (Inbound to </a:t>
                      </a:r>
                      <a:r>
                        <a:rPr lang="en-US" sz="1000" dirty="0" err="1"/>
                        <a:t>RxFlow</a:t>
                      </a:r>
                      <a:r>
                        <a:rPr lang="en-US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Payment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RxFlow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Ensure the transaction ID is unique, the payment amount is positive, and the payment status is valid before recording the revenue.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IF-01b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Payment confirmation and management (Inbound to </a:t>
                      </a:r>
                      <a:r>
                        <a:rPr lang="en-US" sz="1000" dirty="0" err="1"/>
                        <a:t>RxFlow</a:t>
                      </a:r>
                      <a:r>
                        <a:rPr lang="en-US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Payment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/>
                        <a:t>RxFlow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Confirm that the authorization code is received, the subscription ID exists in the system, and the payment is successful before updating the subscription.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IF-02a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Drug information request (Outbound from RxFlow)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RxFlow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Drug Information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Verify that a valid drug code and API key are included and that the request is sent in the correct format.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IF-02b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Drug information response (Inbound to RxFlow)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Drug Information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/>
                        <a:t>RxFlow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Check that the response is successful and that required drug details such as name, dosage, and interactions are complete and match the request.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808899"/>
                  </a:ext>
                </a:extLst>
              </a:tr>
              <a:tr h="547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IF-03a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Electronic prescription submission (Outbound from RxFlow)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RxFlow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E-prescribing FHIR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Ensure the prescription message follows FHIR standards and includes valid patient and prescriber information before sending.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IF-03b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Prescription status update (Inbound to RxFlow)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E-prescribing FHIR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RxFlow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Verify that the returned prescription ID matches the original request and that the status received is valid before updating the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6846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283</Words>
  <Application>Microsoft Office PowerPoint</Application>
  <PresentationFormat>On-screen Show (16:9)</PresentationFormat>
  <Paragraphs>64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Simple Light</vt:lpstr>
      <vt:lpstr>PowerPoint Presentation</vt:lpstr>
      <vt:lpstr>System Interface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Sonali Yadav</dc:creator>
  <cp:lastModifiedBy>Sonali Yadav</cp:lastModifiedBy>
  <cp:revision>6</cp:revision>
  <dcterms:modified xsi:type="dcterms:W3CDTF">2026-03-03T00:18:15Z</dcterms:modified>
</cp:coreProperties>
</file>