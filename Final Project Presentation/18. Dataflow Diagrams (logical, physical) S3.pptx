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22" autoAdjust="0"/>
    <p:restoredTop sz="94660"/>
  </p:normalViewPr>
  <p:slideViewPr>
    <p:cSldViewPr snapToGrid="0">
      <p:cViewPr varScale="1">
        <p:scale>
          <a:sx n="59" d="100"/>
          <a:sy n="59" d="100"/>
        </p:scale>
        <p:origin x="80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CC208-9D1D-C146-00B3-4E45B1F76D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40DACB-6499-E30C-DC6B-6D2466AE35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984E74-A627-474E-9CB6-03D3626B1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F0689-D010-40B9-8569-19D21EBB4E4B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EA8FA9-DF10-25FA-87C5-366EBE1EA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65A894-7408-F097-0D53-69C94E895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A327A-014B-4A70-9B0C-4B39FD46C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819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D4E98-8993-CBD7-46B7-6167E20F9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A95321-E414-B367-3B6A-CDA84832B0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915B7D-AFBE-20E0-A32C-4DC752EED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F0689-D010-40B9-8569-19D21EBB4E4B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9E6D8-B7AA-7FC8-7A01-117A68134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3AAF0C-897F-F37D-2EBF-46BEF276F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A327A-014B-4A70-9B0C-4B39FD46C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815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6D646-115F-4910-35C3-0AE5D21AC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C542EF-8475-1F7C-B42A-9387CB1480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DC01E5-5AB4-D92A-6435-6C7F32876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F0689-D010-40B9-8569-19D21EBB4E4B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69E307-D664-409E-291D-8354D2F3F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79D9FB-16C4-2B52-8421-AB9D08EEA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A327A-014B-4A70-9B0C-4B39FD46C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018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FDBD5-9511-4031-F303-ADB843904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7E6137-71AC-906C-541C-BBD063C1F1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FEBE6-E4A2-DA0C-00D0-EE7C00041F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B3A063-E5AD-77C3-E81A-3C59109D7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F0689-D010-40B9-8569-19D21EBB4E4B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8FAB6C-9693-580D-3E6A-D62AB5BAF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F722DD-D04F-4551-1B3A-915BE6AE5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A327A-014B-4A70-9B0C-4B39FD46C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3650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CDA52-DE44-4CB5-5AD3-12F000CF6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ADD58E-4E04-835E-73E5-D7552A44C7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0CC5F8-9488-0956-1E99-17087E7EBB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830415-938C-4B1B-A9C5-51983169E5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6A82BF-2F32-BEEC-72B3-1A8B4CC706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DD759B-4EA4-930D-E331-C3AF11C59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F0689-D010-40B9-8569-19D21EBB4E4B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4B4B70-6A54-DA22-2181-DA6394800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94E8D2-5831-4E41-896B-079234A34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A327A-014B-4A70-9B0C-4B39FD46C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6759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17696-BC71-7D87-6951-9E95711EF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455C7B-91FD-B368-007C-163B05BD9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F0689-D010-40B9-8569-19D21EBB4E4B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39ADB4-AA2B-CF6E-D208-23A5388E8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3CDDBD-1408-C272-036B-F77FAC4EA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A327A-014B-4A70-9B0C-4B39FD46C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543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34BD62-21A7-5B95-35E9-6BC324B4F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F0689-D010-40B9-8569-19D21EBB4E4B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19E1A7-11E2-7937-2C43-CCC280523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68DD8E-6541-EB27-B262-4916C5646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A327A-014B-4A70-9B0C-4B39FD46C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6700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AA9F3-6D95-8B08-0DCC-A8140FB21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D97951-B1C1-98BB-47FE-EE03BE4F7E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0F3B77-0D93-DD8A-EA7A-937E8DF4CF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24B7D0-5E54-FB8C-5058-EC3422856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F0689-D010-40B9-8569-19D21EBB4E4B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F9E001-4FF8-69B2-497C-D0C4F57D9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A58185-31AE-99BD-4A1B-442198544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A327A-014B-4A70-9B0C-4B39FD46C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425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78413-CE99-3408-E36B-8B4847CD6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F128AE-B0D6-1771-4B7D-E6059FF8EE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5E66D7-00D2-8FC8-20EA-AC31CE52D9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A54FFE-1583-F4A6-96E7-25C537AFD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F0689-D010-40B9-8569-19D21EBB4E4B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6C2343-13A3-23C1-5502-1AEA50347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4262E4-1BAF-E1E7-0B15-496185458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A327A-014B-4A70-9B0C-4B39FD46C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514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6FFA6-F2F8-9233-33E1-207F8E9C0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6CF17-03FD-9939-FB0C-2075C53C30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80DE9-62D8-B6C8-F58A-7653DFDF5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F0689-D010-40B9-8569-19D21EBB4E4B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68BC00-66E9-6CBE-2F00-75AF81CBB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5D3E8B-FC1D-1297-3510-1DF8A1472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A327A-014B-4A70-9B0C-4B39FD46C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946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ED142B-29AC-9D8E-E74C-3A79E5CAEC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CFAFBB-6BEA-851E-7A57-5EE106A9CB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D5EC90-7B6F-5915-0CC3-047BEA6CC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F0689-D010-40B9-8569-19D21EBB4E4B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17489E-2C21-B33A-01CB-F00EF9C8D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953C44-553A-61FB-4D89-2E2ACDED7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A327A-014B-4A70-9B0C-4B39FD46C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617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446E39-901B-4AA7-6A4D-7B5DE5DD6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BA74F6-1B4B-A0A0-15FB-671BEBA12A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87C402-C3C1-8EB0-04E3-FF616A4919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5F0689-D010-40B9-8569-19D21EBB4E4B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1B6ABC-51C1-236F-A817-F195C1395C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C2D21E-1940-8057-EE7E-457EB74D64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BA327A-014B-4A70-9B0C-4B39FD46C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792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7C3D0186-6ED9-F1E7-9674-71F2D1C26D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451" y="1730320"/>
            <a:ext cx="876300" cy="904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3059D28-7937-0D55-E127-A57DF9E30DB6}"/>
              </a:ext>
            </a:extLst>
          </p:cNvPr>
          <p:cNvSpPr txBox="1"/>
          <p:nvPr/>
        </p:nvSpPr>
        <p:spPr>
          <a:xfrm>
            <a:off x="3387437" y="450273"/>
            <a:ext cx="54171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S3 RxFlow Data Flow Diagram (Logical)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C242D9B-DA42-F319-EBE9-36A2B154066D}"/>
              </a:ext>
            </a:extLst>
          </p:cNvPr>
          <p:cNvSpPr/>
          <p:nvPr/>
        </p:nvSpPr>
        <p:spPr>
          <a:xfrm>
            <a:off x="3117479" y="1833327"/>
            <a:ext cx="1807521" cy="748145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05.01 Generate Invoice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5A1856D-C85F-8492-62C3-5F097B76C66D}"/>
              </a:ext>
            </a:extLst>
          </p:cNvPr>
          <p:cNvSpPr txBox="1"/>
          <p:nvPr/>
        </p:nvSpPr>
        <p:spPr>
          <a:xfrm>
            <a:off x="847391" y="2690336"/>
            <a:ext cx="9584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Pharmacy Admin</a:t>
            </a:r>
          </a:p>
        </p:txBody>
      </p:sp>
      <p:sp>
        <p:nvSpPr>
          <p:cNvPr id="1032" name="TextBox 1031">
            <a:extLst>
              <a:ext uri="{FF2B5EF4-FFF2-40B4-BE49-F238E27FC236}">
                <a16:creationId xmlns:a16="http://schemas.microsoft.com/office/drawing/2014/main" id="{7E4A17E4-93DC-F6E5-6F7F-64557D8CF077}"/>
              </a:ext>
            </a:extLst>
          </p:cNvPr>
          <p:cNvSpPr txBox="1"/>
          <p:nvPr/>
        </p:nvSpPr>
        <p:spPr>
          <a:xfrm>
            <a:off x="1745801" y="1970268"/>
            <a:ext cx="14422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Invoice Request</a:t>
            </a:r>
          </a:p>
          <a:p>
            <a:pPr algn="ctr"/>
            <a:r>
              <a:rPr lang="en-US" sz="1200" dirty="0"/>
              <a:t>Df-in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BE8B368-5036-5156-1C68-75CEAFE6DDF3}"/>
              </a:ext>
            </a:extLst>
          </p:cNvPr>
          <p:cNvSpPr/>
          <p:nvPr/>
        </p:nvSpPr>
        <p:spPr>
          <a:xfrm>
            <a:off x="6264605" y="1808684"/>
            <a:ext cx="1710176" cy="748145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05.02 Verify Payment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A43D3BE-BBBC-D15B-E76B-4AA0CD4F5407}"/>
              </a:ext>
            </a:extLst>
          </p:cNvPr>
          <p:cNvSpPr txBox="1"/>
          <p:nvPr/>
        </p:nvSpPr>
        <p:spPr>
          <a:xfrm>
            <a:off x="4800037" y="1951923"/>
            <a:ext cx="14422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Invoice Detail</a:t>
            </a:r>
          </a:p>
          <a:p>
            <a:pPr algn="ctr"/>
            <a:r>
              <a:rPr lang="en-US" sz="1200" dirty="0"/>
              <a:t>Df-out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F9F4173-9E22-F3BC-4191-817F9893E140}"/>
              </a:ext>
            </a:extLst>
          </p:cNvPr>
          <p:cNvSpPr txBox="1"/>
          <p:nvPr/>
        </p:nvSpPr>
        <p:spPr>
          <a:xfrm>
            <a:off x="7997106" y="1985727"/>
            <a:ext cx="14422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Verified Payment</a:t>
            </a:r>
          </a:p>
          <a:p>
            <a:pPr algn="ctr"/>
            <a:r>
              <a:rPr lang="en-US" sz="1200" dirty="0"/>
              <a:t>Details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6387FCD4-C250-F733-0F95-70A4ACAED380}"/>
              </a:ext>
            </a:extLst>
          </p:cNvPr>
          <p:cNvSpPr/>
          <p:nvPr/>
        </p:nvSpPr>
        <p:spPr>
          <a:xfrm>
            <a:off x="9392775" y="1833328"/>
            <a:ext cx="1601796" cy="748145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05.03 Payment Processing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D56CBD86-0CBE-DE05-BDDB-4E669650B7D3}"/>
              </a:ext>
            </a:extLst>
          </p:cNvPr>
          <p:cNvCxnSpPr>
            <a:cxnSpLocks/>
            <a:stCxn id="6" idx="3"/>
            <a:endCxn id="48" idx="1"/>
          </p:cNvCxnSpPr>
          <p:nvPr/>
        </p:nvCxnSpPr>
        <p:spPr>
          <a:xfrm>
            <a:off x="7974781" y="2182757"/>
            <a:ext cx="1417994" cy="246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20F73B3E-7AC0-80F3-7774-36ACD23377BA}"/>
              </a:ext>
            </a:extLst>
          </p:cNvPr>
          <p:cNvSpPr txBox="1"/>
          <p:nvPr/>
        </p:nvSpPr>
        <p:spPr>
          <a:xfrm>
            <a:off x="4253196" y="3152001"/>
            <a:ext cx="19658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Payment Confirmation</a:t>
            </a:r>
          </a:p>
        </p:txBody>
      </p:sp>
      <p:cxnSp>
        <p:nvCxnSpPr>
          <p:cNvPr id="1050" name="Straight Arrow Connector 1049">
            <a:extLst>
              <a:ext uri="{FF2B5EF4-FFF2-40B4-BE49-F238E27FC236}">
                <a16:creationId xmlns:a16="http://schemas.microsoft.com/office/drawing/2014/main" id="{47D32CE7-7EB8-C0F9-2A72-974FA65A8FD3}"/>
              </a:ext>
            </a:extLst>
          </p:cNvPr>
          <p:cNvCxnSpPr>
            <a:stCxn id="1026" idx="3"/>
            <a:endCxn id="15" idx="1"/>
          </p:cNvCxnSpPr>
          <p:nvPr/>
        </p:nvCxnSpPr>
        <p:spPr>
          <a:xfrm>
            <a:off x="1764751" y="2182758"/>
            <a:ext cx="1352728" cy="246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1" name="Straight Arrow Connector 1070">
            <a:extLst>
              <a:ext uri="{FF2B5EF4-FFF2-40B4-BE49-F238E27FC236}">
                <a16:creationId xmlns:a16="http://schemas.microsoft.com/office/drawing/2014/main" id="{F187F293-8FA6-53D1-1A95-7C80E65BABED}"/>
              </a:ext>
            </a:extLst>
          </p:cNvPr>
          <p:cNvCxnSpPr>
            <a:cxnSpLocks/>
            <a:stCxn id="15" idx="3"/>
            <a:endCxn id="6" idx="1"/>
          </p:cNvCxnSpPr>
          <p:nvPr/>
        </p:nvCxnSpPr>
        <p:spPr>
          <a:xfrm flipV="1">
            <a:off x="4925000" y="2182757"/>
            <a:ext cx="1339605" cy="246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2" name="Connector: Elbow 1091">
            <a:extLst>
              <a:ext uri="{FF2B5EF4-FFF2-40B4-BE49-F238E27FC236}">
                <a16:creationId xmlns:a16="http://schemas.microsoft.com/office/drawing/2014/main" id="{172D007E-FEDF-D91E-AB18-42886EEA0AC0}"/>
              </a:ext>
            </a:extLst>
          </p:cNvPr>
          <p:cNvCxnSpPr>
            <a:stCxn id="48" idx="2"/>
            <a:endCxn id="36" idx="2"/>
          </p:cNvCxnSpPr>
          <p:nvPr/>
        </p:nvCxnSpPr>
        <p:spPr>
          <a:xfrm rot="5400000">
            <a:off x="5474873" y="-1566799"/>
            <a:ext cx="570528" cy="8867072"/>
          </a:xfrm>
          <a:prstGeom prst="bentConnector3">
            <a:avLst>
              <a:gd name="adj1" fmla="val 15151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2">
            <a:extLst>
              <a:ext uri="{FF2B5EF4-FFF2-40B4-BE49-F238E27FC236}">
                <a16:creationId xmlns:a16="http://schemas.microsoft.com/office/drawing/2014/main" id="{14B4967F-D2C5-6DCA-E4AB-1219818B64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451" y="4484405"/>
            <a:ext cx="876300" cy="904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952792B-9FD0-8434-940D-8BAAA00AF7F3}"/>
              </a:ext>
            </a:extLst>
          </p:cNvPr>
          <p:cNvSpPr txBox="1"/>
          <p:nvPr/>
        </p:nvSpPr>
        <p:spPr>
          <a:xfrm>
            <a:off x="847391" y="5389280"/>
            <a:ext cx="9584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Pharmacist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7D25B37-8ED2-B73E-5E95-4399FE53DBA0}"/>
              </a:ext>
            </a:extLst>
          </p:cNvPr>
          <p:cNvSpPr/>
          <p:nvPr/>
        </p:nvSpPr>
        <p:spPr>
          <a:xfrm>
            <a:off x="3552908" y="4562769"/>
            <a:ext cx="1807521" cy="748145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03.04 Complete Pickup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5019C60-BC68-0603-27AA-EEBCB35BBCAE}"/>
              </a:ext>
            </a:extLst>
          </p:cNvPr>
          <p:cNvSpPr/>
          <p:nvPr/>
        </p:nvSpPr>
        <p:spPr>
          <a:xfrm>
            <a:off x="6997043" y="4562768"/>
            <a:ext cx="1807521" cy="748145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04.03 Track Lot Number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C002AB3-C7C1-6387-7FB7-91A3874FB75A}"/>
              </a:ext>
            </a:extLst>
          </p:cNvPr>
          <p:cNvCxnSpPr>
            <a:stCxn id="2" idx="3"/>
            <a:endCxn id="5" idx="1"/>
          </p:cNvCxnSpPr>
          <p:nvPr/>
        </p:nvCxnSpPr>
        <p:spPr>
          <a:xfrm flipV="1">
            <a:off x="1764751" y="4936842"/>
            <a:ext cx="1788157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1003620-AEAD-5A2C-ACBA-CAFB5398A10B}"/>
              </a:ext>
            </a:extLst>
          </p:cNvPr>
          <p:cNvCxnSpPr>
            <a:stCxn id="5" idx="3"/>
            <a:endCxn id="7" idx="1"/>
          </p:cNvCxnSpPr>
          <p:nvPr/>
        </p:nvCxnSpPr>
        <p:spPr>
          <a:xfrm flipV="1">
            <a:off x="5360429" y="4936841"/>
            <a:ext cx="1636614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9CF40C9-CD75-CDB9-2787-9A1DFB04E188}"/>
              </a:ext>
            </a:extLst>
          </p:cNvPr>
          <p:cNvSpPr txBox="1"/>
          <p:nvPr/>
        </p:nvSpPr>
        <p:spPr>
          <a:xfrm>
            <a:off x="1675236" y="4707568"/>
            <a:ext cx="1877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Prescription pickup details(DF-in)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CF94012-B58E-A37B-D803-1576D47962C0}"/>
              </a:ext>
            </a:extLst>
          </p:cNvPr>
          <p:cNvSpPr txBox="1"/>
          <p:nvPr/>
        </p:nvSpPr>
        <p:spPr>
          <a:xfrm>
            <a:off x="1898201" y="2122668"/>
            <a:ext cx="14422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Invoice Request</a:t>
            </a:r>
          </a:p>
          <a:p>
            <a:pPr algn="ctr"/>
            <a:r>
              <a:rPr lang="en-US" sz="1200" dirty="0"/>
              <a:t>Df-in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BEF067E-9BA5-0139-F74A-90EC6C02CEE9}"/>
              </a:ext>
            </a:extLst>
          </p:cNvPr>
          <p:cNvSpPr txBox="1"/>
          <p:nvPr/>
        </p:nvSpPr>
        <p:spPr>
          <a:xfrm>
            <a:off x="5157164" y="4707568"/>
            <a:ext cx="1877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Pickup Confirmation</a:t>
            </a:r>
          </a:p>
          <a:p>
            <a:pPr algn="ctr"/>
            <a:r>
              <a:rPr lang="en-US" sz="1200" dirty="0"/>
              <a:t>Df-out</a:t>
            </a:r>
          </a:p>
        </p:txBody>
      </p: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B1B421D4-F090-D731-298B-A0CE2AEB8502}"/>
              </a:ext>
            </a:extLst>
          </p:cNvPr>
          <p:cNvCxnSpPr>
            <a:stCxn id="7" idx="2"/>
            <a:endCxn id="3" idx="2"/>
          </p:cNvCxnSpPr>
          <p:nvPr/>
        </p:nvCxnSpPr>
        <p:spPr>
          <a:xfrm rot="5400000">
            <a:off x="4436020" y="2201495"/>
            <a:ext cx="355366" cy="6574203"/>
          </a:xfrm>
          <a:prstGeom prst="bentConnector3">
            <a:avLst>
              <a:gd name="adj1" fmla="val 16432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0C53632-68CB-8F78-8035-87F6B7C25F82}"/>
              </a:ext>
            </a:extLst>
          </p:cNvPr>
          <p:cNvSpPr txBox="1"/>
          <p:nvPr/>
        </p:nvSpPr>
        <p:spPr>
          <a:xfrm>
            <a:off x="3082403" y="5666279"/>
            <a:ext cx="18776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Updated lot information</a:t>
            </a:r>
          </a:p>
        </p:txBody>
      </p:sp>
    </p:spTree>
    <p:extLst>
      <p:ext uri="{BB962C8B-B14F-4D97-AF65-F5344CB8AC3E}">
        <p14:creationId xmlns:p14="http://schemas.microsoft.com/office/powerpoint/2010/main" val="33543997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4ADEA7D-DB63-1760-84C2-BFEF1592E640}"/>
              </a:ext>
            </a:extLst>
          </p:cNvPr>
          <p:cNvSpPr txBox="1"/>
          <p:nvPr/>
        </p:nvSpPr>
        <p:spPr>
          <a:xfrm>
            <a:off x="3387437" y="450273"/>
            <a:ext cx="54171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S3 RxFlow Data Flow Diagram (Physical)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843AF5-B690-5114-1B57-9E8A6DF57A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144" y="3224418"/>
            <a:ext cx="876300" cy="904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6061364-DA57-93CE-2B5B-8E9CACCD9611}"/>
              </a:ext>
            </a:extLst>
          </p:cNvPr>
          <p:cNvSpPr/>
          <p:nvPr/>
        </p:nvSpPr>
        <p:spPr>
          <a:xfrm>
            <a:off x="2722756" y="3287127"/>
            <a:ext cx="1807521" cy="748145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05.01 Generate Invoice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4264076-6640-E279-1DF3-D0989A158094}"/>
              </a:ext>
            </a:extLst>
          </p:cNvPr>
          <p:cNvCxnSpPr>
            <a:cxnSpLocks/>
            <a:stCxn id="3" idx="3"/>
            <a:endCxn id="13" idx="1"/>
          </p:cNvCxnSpPr>
          <p:nvPr/>
        </p:nvCxnSpPr>
        <p:spPr>
          <a:xfrm flipV="1">
            <a:off x="1240444" y="3661200"/>
            <a:ext cx="1482312" cy="156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C5F462C0-51BB-89FF-9423-68DB16FA3F95}"/>
              </a:ext>
            </a:extLst>
          </p:cNvPr>
          <p:cNvSpPr txBox="1"/>
          <p:nvPr/>
        </p:nvSpPr>
        <p:spPr>
          <a:xfrm>
            <a:off x="322094" y="4303078"/>
            <a:ext cx="9584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Pharmacy Admin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503D9EE-481F-B8A7-B396-BB58B394C604}"/>
              </a:ext>
            </a:extLst>
          </p:cNvPr>
          <p:cNvSpPr/>
          <p:nvPr/>
        </p:nvSpPr>
        <p:spPr>
          <a:xfrm>
            <a:off x="6309528" y="3285900"/>
            <a:ext cx="1807521" cy="748145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05.02 Verify Payment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ECE0A48-4934-0069-9C81-E52AE2759D59}"/>
              </a:ext>
            </a:extLst>
          </p:cNvPr>
          <p:cNvSpPr txBox="1"/>
          <p:nvPr/>
        </p:nvSpPr>
        <p:spPr>
          <a:xfrm>
            <a:off x="1280513" y="3433203"/>
            <a:ext cx="14422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Invoice Request</a:t>
            </a:r>
          </a:p>
          <a:p>
            <a:pPr algn="ctr"/>
            <a:r>
              <a:rPr lang="en-US" sz="1200" dirty="0"/>
              <a:t>Df-in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09B5D60-943E-D951-B0E0-48F69064CB9D}"/>
              </a:ext>
            </a:extLst>
          </p:cNvPr>
          <p:cNvSpPr txBox="1"/>
          <p:nvPr/>
        </p:nvSpPr>
        <p:spPr>
          <a:xfrm>
            <a:off x="8151364" y="3402477"/>
            <a:ext cx="18075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Verified payment details</a:t>
            </a:r>
          </a:p>
          <a:p>
            <a:pPr algn="ctr"/>
            <a:r>
              <a:rPr lang="en-US" sz="1200" dirty="0"/>
              <a:t>Df-out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452A106-0941-7ABC-A27E-F5C6FC22748C}"/>
              </a:ext>
            </a:extLst>
          </p:cNvPr>
          <p:cNvCxnSpPr>
            <a:cxnSpLocks/>
            <a:stCxn id="19" idx="3"/>
          </p:cNvCxnSpPr>
          <p:nvPr/>
        </p:nvCxnSpPr>
        <p:spPr>
          <a:xfrm flipV="1">
            <a:off x="8117049" y="3647523"/>
            <a:ext cx="1876152" cy="124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7F9BB626-13A2-1A9C-0D5D-C6D6B36E6536}"/>
              </a:ext>
            </a:extLst>
          </p:cNvPr>
          <p:cNvSpPr/>
          <p:nvPr/>
        </p:nvSpPr>
        <p:spPr>
          <a:xfrm>
            <a:off x="9993201" y="3259597"/>
            <a:ext cx="1807521" cy="748145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05.03 Payment Processing</a:t>
            </a:r>
          </a:p>
        </p:txBody>
      </p:sp>
      <p:sp>
        <p:nvSpPr>
          <p:cNvPr id="32" name="Flowchart: Magnetic Disk 31">
            <a:extLst>
              <a:ext uri="{FF2B5EF4-FFF2-40B4-BE49-F238E27FC236}">
                <a16:creationId xmlns:a16="http://schemas.microsoft.com/office/drawing/2014/main" id="{9A0FFB8E-E0FE-8D9B-1482-456CC074B775}"/>
              </a:ext>
            </a:extLst>
          </p:cNvPr>
          <p:cNvSpPr/>
          <p:nvPr/>
        </p:nvSpPr>
        <p:spPr>
          <a:xfrm>
            <a:off x="2735863" y="1760398"/>
            <a:ext cx="1794414" cy="631192"/>
          </a:xfrm>
          <a:prstGeom prst="flowChartMagneticDisk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D1. Invoice DB</a:t>
            </a:r>
            <a:endParaRPr lang="en-IN" dirty="0"/>
          </a:p>
        </p:txBody>
      </p:sp>
      <p:sp>
        <p:nvSpPr>
          <p:cNvPr id="35" name="Flowchart: Magnetic Disk 34">
            <a:extLst>
              <a:ext uri="{FF2B5EF4-FFF2-40B4-BE49-F238E27FC236}">
                <a16:creationId xmlns:a16="http://schemas.microsoft.com/office/drawing/2014/main" id="{67E00342-8DEF-B850-833B-819E6BF8CE5C}"/>
              </a:ext>
            </a:extLst>
          </p:cNvPr>
          <p:cNvSpPr/>
          <p:nvPr/>
        </p:nvSpPr>
        <p:spPr>
          <a:xfrm>
            <a:off x="6307662" y="1745066"/>
            <a:ext cx="1794414" cy="631192"/>
          </a:xfrm>
          <a:prstGeom prst="flowChartMagneticDisk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D2. Payment DB</a:t>
            </a:r>
            <a:endParaRPr lang="en-IN" dirty="0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7881744-E3EB-26C5-1671-B5A4DEE41325}"/>
              </a:ext>
            </a:extLst>
          </p:cNvPr>
          <p:cNvCxnSpPr>
            <a:cxnSpLocks/>
            <a:stCxn id="35" idx="3"/>
            <a:endCxn id="19" idx="0"/>
          </p:cNvCxnSpPr>
          <p:nvPr/>
        </p:nvCxnSpPr>
        <p:spPr>
          <a:xfrm>
            <a:off x="7204869" y="2376258"/>
            <a:ext cx="8420" cy="9096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B2E8B035-7AD2-C76C-AEDE-BD1ABCC12412}"/>
              </a:ext>
            </a:extLst>
          </p:cNvPr>
          <p:cNvSpPr txBox="1"/>
          <p:nvPr/>
        </p:nvSpPr>
        <p:spPr>
          <a:xfrm>
            <a:off x="6303721" y="2531346"/>
            <a:ext cx="1705221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Fetch Payment Data </a:t>
            </a:r>
          </a:p>
          <a:p>
            <a:pPr algn="ctr"/>
            <a:r>
              <a:rPr lang="en-US" sz="1200" dirty="0"/>
              <a:t>(DF-out)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497F25B2-11AB-0FCE-2D18-56156E8D1367}"/>
              </a:ext>
            </a:extLst>
          </p:cNvPr>
          <p:cNvSpPr/>
          <p:nvPr/>
        </p:nvSpPr>
        <p:spPr>
          <a:xfrm>
            <a:off x="6505296" y="5179032"/>
            <a:ext cx="1399146" cy="748145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Payment Gateway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7BE1460-04AC-9FBF-62F5-46950EC0AD5D}"/>
              </a:ext>
            </a:extLst>
          </p:cNvPr>
          <p:cNvCxnSpPr>
            <a:stCxn id="19" idx="2"/>
            <a:endCxn id="40" idx="0"/>
          </p:cNvCxnSpPr>
          <p:nvPr/>
        </p:nvCxnSpPr>
        <p:spPr>
          <a:xfrm flipH="1">
            <a:off x="7204869" y="4034045"/>
            <a:ext cx="8420" cy="11449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6F93DE08-599F-8CAF-0D18-BB33E0007BBD}"/>
              </a:ext>
            </a:extLst>
          </p:cNvPr>
          <p:cNvSpPr txBox="1"/>
          <p:nvPr/>
        </p:nvSpPr>
        <p:spPr>
          <a:xfrm>
            <a:off x="6365611" y="4330302"/>
            <a:ext cx="1705221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Payment Verification Request (DF-out)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76279F8-876D-D00F-B1A8-D385E9E3F306}"/>
              </a:ext>
            </a:extLst>
          </p:cNvPr>
          <p:cNvCxnSpPr>
            <a:stCxn id="13" idx="3"/>
            <a:endCxn id="19" idx="1"/>
          </p:cNvCxnSpPr>
          <p:nvPr/>
        </p:nvCxnSpPr>
        <p:spPr>
          <a:xfrm flipV="1">
            <a:off x="4530277" y="3659973"/>
            <a:ext cx="1779251" cy="12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5C00FE3-58BF-A734-8934-4A607BF79D84}"/>
              </a:ext>
            </a:extLst>
          </p:cNvPr>
          <p:cNvSpPr txBox="1"/>
          <p:nvPr/>
        </p:nvSpPr>
        <p:spPr>
          <a:xfrm>
            <a:off x="4694570" y="3402477"/>
            <a:ext cx="14422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Invoice Details</a:t>
            </a:r>
          </a:p>
          <a:p>
            <a:pPr algn="ctr"/>
            <a:r>
              <a:rPr lang="en-US" sz="1200" dirty="0"/>
              <a:t>Df-out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F94833F-59C7-382B-F719-AA0B20E103DB}"/>
              </a:ext>
            </a:extLst>
          </p:cNvPr>
          <p:cNvCxnSpPr>
            <a:stCxn id="32" idx="3"/>
            <a:endCxn id="13" idx="0"/>
          </p:cNvCxnSpPr>
          <p:nvPr/>
        </p:nvCxnSpPr>
        <p:spPr>
          <a:xfrm flipH="1">
            <a:off x="3626517" y="2391590"/>
            <a:ext cx="6553" cy="8955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2C4E3A9A-9195-6522-BC12-C989C29327FD}"/>
              </a:ext>
            </a:extLst>
          </p:cNvPr>
          <p:cNvSpPr txBox="1"/>
          <p:nvPr/>
        </p:nvSpPr>
        <p:spPr>
          <a:xfrm>
            <a:off x="2825056" y="2647953"/>
            <a:ext cx="1705221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Invoice data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A57B3AF-EE14-796C-E43A-79C59653AFC9}"/>
              </a:ext>
            </a:extLst>
          </p:cNvPr>
          <p:cNvSpPr txBox="1"/>
          <p:nvPr/>
        </p:nvSpPr>
        <p:spPr>
          <a:xfrm>
            <a:off x="8117049" y="6038675"/>
            <a:ext cx="1705221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Payment confirmation  Df-out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30BB37DD-E81E-34A4-98DD-81D44F427F04}"/>
              </a:ext>
            </a:extLst>
          </p:cNvPr>
          <p:cNvCxnSpPr>
            <a:stCxn id="40" idx="3"/>
            <a:endCxn id="31" idx="2"/>
          </p:cNvCxnSpPr>
          <p:nvPr/>
        </p:nvCxnSpPr>
        <p:spPr>
          <a:xfrm flipV="1">
            <a:off x="7904442" y="4007742"/>
            <a:ext cx="2992520" cy="15453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341F6B93-E117-347A-F522-2F02030AE3E0}"/>
              </a:ext>
            </a:extLst>
          </p:cNvPr>
          <p:cNvCxnSpPr>
            <a:stCxn id="31" idx="3"/>
            <a:endCxn id="15" idx="2"/>
          </p:cNvCxnSpPr>
          <p:nvPr/>
        </p:nvCxnSpPr>
        <p:spPr>
          <a:xfrm flipH="1">
            <a:off x="801304" y="3633670"/>
            <a:ext cx="10999418" cy="1131073"/>
          </a:xfrm>
          <a:prstGeom prst="bentConnector4">
            <a:avLst>
              <a:gd name="adj1" fmla="val -2078"/>
              <a:gd name="adj2" fmla="val 23473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73628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AACA0EEC-3689-688E-7CFF-B26D3EEE08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451" y="3317809"/>
            <a:ext cx="876300" cy="904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6D7D4B4-C204-5E72-DE92-89DF519DC10E}"/>
              </a:ext>
            </a:extLst>
          </p:cNvPr>
          <p:cNvSpPr txBox="1"/>
          <p:nvPr/>
        </p:nvSpPr>
        <p:spPr>
          <a:xfrm>
            <a:off x="847391" y="4222684"/>
            <a:ext cx="9584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Pharmacist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334C2E1-BE66-DC42-4BBF-4A3003841D66}"/>
              </a:ext>
            </a:extLst>
          </p:cNvPr>
          <p:cNvSpPr/>
          <p:nvPr/>
        </p:nvSpPr>
        <p:spPr>
          <a:xfrm>
            <a:off x="3552908" y="3396173"/>
            <a:ext cx="1807521" cy="748145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03.04 Complete Pickup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0AE5230-DD2F-D442-DB3A-A94B07C64DD7}"/>
              </a:ext>
            </a:extLst>
          </p:cNvPr>
          <p:cNvSpPr/>
          <p:nvPr/>
        </p:nvSpPr>
        <p:spPr>
          <a:xfrm>
            <a:off x="6997043" y="3396172"/>
            <a:ext cx="1807521" cy="748145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04.03 Track Lot Number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CF165A4-F114-D329-E351-1CAF333F401E}"/>
              </a:ext>
            </a:extLst>
          </p:cNvPr>
          <p:cNvCxnSpPr>
            <a:stCxn id="2" idx="3"/>
            <a:endCxn id="4" idx="1"/>
          </p:cNvCxnSpPr>
          <p:nvPr/>
        </p:nvCxnSpPr>
        <p:spPr>
          <a:xfrm flipV="1">
            <a:off x="1764751" y="3770246"/>
            <a:ext cx="1788157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2048E8B-8899-A503-8B89-CD7B1F7A0732}"/>
              </a:ext>
            </a:extLst>
          </p:cNvPr>
          <p:cNvCxnSpPr>
            <a:stCxn id="4" idx="3"/>
            <a:endCxn id="5" idx="1"/>
          </p:cNvCxnSpPr>
          <p:nvPr/>
        </p:nvCxnSpPr>
        <p:spPr>
          <a:xfrm flipV="1">
            <a:off x="5360429" y="3770245"/>
            <a:ext cx="1636614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B2C3BE9-87ED-96E7-E9F9-747AFF34D89E}"/>
              </a:ext>
            </a:extLst>
          </p:cNvPr>
          <p:cNvSpPr txBox="1"/>
          <p:nvPr/>
        </p:nvSpPr>
        <p:spPr>
          <a:xfrm>
            <a:off x="1675236" y="3540972"/>
            <a:ext cx="1877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Prescription pickup details(DF-in)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7B88F5-006B-6A63-7CA9-152C6E407AB6}"/>
              </a:ext>
            </a:extLst>
          </p:cNvPr>
          <p:cNvSpPr txBox="1"/>
          <p:nvPr/>
        </p:nvSpPr>
        <p:spPr>
          <a:xfrm>
            <a:off x="5157164" y="3540972"/>
            <a:ext cx="1877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Pickup Confirmation</a:t>
            </a:r>
          </a:p>
          <a:p>
            <a:pPr algn="ctr"/>
            <a:r>
              <a:rPr lang="en-US" sz="1200" dirty="0"/>
              <a:t>Df-out</a:t>
            </a:r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157EBA45-F889-2FC2-160D-D4EC19098232}"/>
              </a:ext>
            </a:extLst>
          </p:cNvPr>
          <p:cNvCxnSpPr>
            <a:stCxn id="5" idx="2"/>
            <a:endCxn id="3" idx="2"/>
          </p:cNvCxnSpPr>
          <p:nvPr/>
        </p:nvCxnSpPr>
        <p:spPr>
          <a:xfrm rot="5400000">
            <a:off x="4436020" y="1034899"/>
            <a:ext cx="355366" cy="6574203"/>
          </a:xfrm>
          <a:prstGeom prst="bentConnector3">
            <a:avLst>
              <a:gd name="adj1" fmla="val 16432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3F14BCA-050B-85FE-2818-1F1725C3FC28}"/>
              </a:ext>
            </a:extLst>
          </p:cNvPr>
          <p:cNvSpPr txBox="1"/>
          <p:nvPr/>
        </p:nvSpPr>
        <p:spPr>
          <a:xfrm>
            <a:off x="3082403" y="4499683"/>
            <a:ext cx="1877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Updated Lot Information (DF-out)</a:t>
            </a:r>
            <a:endParaRPr 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02B03F-7C9E-D488-8AEF-41BA996DD17A}"/>
              </a:ext>
            </a:extLst>
          </p:cNvPr>
          <p:cNvSpPr txBox="1"/>
          <p:nvPr/>
        </p:nvSpPr>
        <p:spPr>
          <a:xfrm>
            <a:off x="3387437" y="450273"/>
            <a:ext cx="54171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S3 RxFlow Data Flow Diagram (Physical)</a:t>
            </a:r>
          </a:p>
        </p:txBody>
      </p:sp>
      <p:sp>
        <p:nvSpPr>
          <p:cNvPr id="13" name="Flowchart: Magnetic Disk 12">
            <a:extLst>
              <a:ext uri="{FF2B5EF4-FFF2-40B4-BE49-F238E27FC236}">
                <a16:creationId xmlns:a16="http://schemas.microsoft.com/office/drawing/2014/main" id="{9D6259C5-1342-F350-B6A6-B62FB26310F2}"/>
              </a:ext>
            </a:extLst>
          </p:cNvPr>
          <p:cNvSpPr/>
          <p:nvPr/>
        </p:nvSpPr>
        <p:spPr>
          <a:xfrm>
            <a:off x="3566015" y="1510543"/>
            <a:ext cx="1794414" cy="631192"/>
          </a:xfrm>
          <a:prstGeom prst="flowChartMagneticDisk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D3. Prescription DB</a:t>
            </a:r>
            <a:endParaRPr lang="en-IN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D720E85-3AF8-1B16-3DA8-00E5F1AD5603}"/>
              </a:ext>
            </a:extLst>
          </p:cNvPr>
          <p:cNvCxnSpPr>
            <a:cxnSpLocks/>
            <a:stCxn id="13" idx="3"/>
            <a:endCxn id="4" idx="0"/>
          </p:cNvCxnSpPr>
          <p:nvPr/>
        </p:nvCxnSpPr>
        <p:spPr>
          <a:xfrm flipH="1">
            <a:off x="4456669" y="2141735"/>
            <a:ext cx="6553" cy="12544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F42EFAB3-A158-9D5D-B37E-990EA2ADCB8E}"/>
              </a:ext>
            </a:extLst>
          </p:cNvPr>
          <p:cNvSpPr txBox="1"/>
          <p:nvPr/>
        </p:nvSpPr>
        <p:spPr>
          <a:xfrm>
            <a:off x="3610611" y="2542007"/>
            <a:ext cx="1705221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Prescription Data (DF-out)</a:t>
            </a:r>
          </a:p>
        </p:txBody>
      </p:sp>
      <p:sp>
        <p:nvSpPr>
          <p:cNvPr id="20" name="Flowchart: Magnetic Disk 19">
            <a:extLst>
              <a:ext uri="{FF2B5EF4-FFF2-40B4-BE49-F238E27FC236}">
                <a16:creationId xmlns:a16="http://schemas.microsoft.com/office/drawing/2014/main" id="{782DF56C-B4AA-7CCC-DBFF-996219629743}"/>
              </a:ext>
            </a:extLst>
          </p:cNvPr>
          <p:cNvSpPr/>
          <p:nvPr/>
        </p:nvSpPr>
        <p:spPr>
          <a:xfrm>
            <a:off x="9803530" y="2226411"/>
            <a:ext cx="1794414" cy="631192"/>
          </a:xfrm>
          <a:prstGeom prst="flowChartMagneticDisk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D5. Drug DB</a:t>
            </a:r>
            <a:endParaRPr lang="en-IN" dirty="0"/>
          </a:p>
        </p:txBody>
      </p:sp>
      <p:sp>
        <p:nvSpPr>
          <p:cNvPr id="21" name="Flowchart: Magnetic Disk 20">
            <a:extLst>
              <a:ext uri="{FF2B5EF4-FFF2-40B4-BE49-F238E27FC236}">
                <a16:creationId xmlns:a16="http://schemas.microsoft.com/office/drawing/2014/main" id="{9CDB3362-959E-941C-E26C-7BF106625983}"/>
              </a:ext>
            </a:extLst>
          </p:cNvPr>
          <p:cNvSpPr/>
          <p:nvPr/>
        </p:nvSpPr>
        <p:spPr>
          <a:xfrm>
            <a:off x="7003596" y="1510543"/>
            <a:ext cx="1794414" cy="631192"/>
          </a:xfrm>
          <a:prstGeom prst="flowChartMagneticDisk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D4. Inventory Lot DB</a:t>
            </a:r>
            <a:endParaRPr lang="en-IN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1933346-2B06-1D04-D939-3200348C65D9}"/>
              </a:ext>
            </a:extLst>
          </p:cNvPr>
          <p:cNvCxnSpPr>
            <a:stCxn id="21" idx="3"/>
            <a:endCxn id="5" idx="0"/>
          </p:cNvCxnSpPr>
          <p:nvPr/>
        </p:nvCxnSpPr>
        <p:spPr>
          <a:xfrm>
            <a:off x="7900803" y="2141735"/>
            <a:ext cx="1" cy="12544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49628C3-1B6E-6157-F3AC-5FE447ED6E51}"/>
              </a:ext>
            </a:extLst>
          </p:cNvPr>
          <p:cNvCxnSpPr>
            <a:stCxn id="20" idx="3"/>
            <a:endCxn id="5" idx="3"/>
          </p:cNvCxnSpPr>
          <p:nvPr/>
        </p:nvCxnSpPr>
        <p:spPr>
          <a:xfrm flipH="1">
            <a:off x="8804564" y="2857603"/>
            <a:ext cx="1896173" cy="9126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FD0A233D-14AB-67F1-7926-0AC916A377C0}"/>
              </a:ext>
            </a:extLst>
          </p:cNvPr>
          <p:cNvSpPr txBox="1"/>
          <p:nvPr/>
        </p:nvSpPr>
        <p:spPr>
          <a:xfrm>
            <a:off x="7146946" y="2502236"/>
            <a:ext cx="1807521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Fetch Lot Data (DF-out)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6DDC0C7-292B-C28F-4B2A-EC0B7BB4046C}"/>
              </a:ext>
            </a:extLst>
          </p:cNvPr>
          <p:cNvSpPr txBox="1"/>
          <p:nvPr/>
        </p:nvSpPr>
        <p:spPr>
          <a:xfrm rot="20032667">
            <a:off x="8852276" y="3348150"/>
            <a:ext cx="2123910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Fetch Drug Data (DF-out)</a:t>
            </a:r>
          </a:p>
        </p:txBody>
      </p:sp>
    </p:spTree>
    <p:extLst>
      <p:ext uri="{BB962C8B-B14F-4D97-AF65-F5344CB8AC3E}">
        <p14:creationId xmlns:p14="http://schemas.microsoft.com/office/powerpoint/2010/main" val="31844728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3646</TotalTime>
  <Words>170</Words>
  <Application>Microsoft Office PowerPoint</Application>
  <PresentationFormat>Widescreen</PresentationFormat>
  <Paragraphs>54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Dhruvi</dc:creator>
  <cp:lastModifiedBy>dhruvi andani</cp:lastModifiedBy>
  <cp:revision>82</cp:revision>
  <dcterms:created xsi:type="dcterms:W3CDTF">2026-03-13T20:32:24Z</dcterms:created>
  <dcterms:modified xsi:type="dcterms:W3CDTF">2026-04-26T02:16:05Z</dcterms:modified>
</cp:coreProperties>
</file>